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3" r:id="rId2"/>
    <p:sldId id="325" r:id="rId3"/>
    <p:sldId id="327" r:id="rId4"/>
    <p:sldId id="328" r:id="rId5"/>
    <p:sldId id="329" r:id="rId6"/>
    <p:sldId id="330" r:id="rId7"/>
    <p:sldId id="33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A44D2-101A-C91D-23D5-00E8CBE51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B34B9-82AF-41C7-D531-F3FB4ED99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1D843-7137-4F6E-BF4E-845642598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CBE4-7BCD-B940-B948-07D468C2443D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933F4-1A64-1F39-2D78-73079649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5A84D-CE1F-1157-D003-21AED275B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DF409-A72A-284C-AA82-068BCA9D3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83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DFE1B-DE6C-83A2-048B-F2089E522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46B0D-7592-9EFC-E981-C0053D68F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39E31-15C1-2779-5ED3-BF9FDC113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CBE4-7BCD-B940-B948-07D468C2443D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1400-1FB1-5150-F1B7-79B085299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CE6FB-5A56-F916-E8BE-E232CEB6C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DF409-A72A-284C-AA82-068BCA9D3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410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75CC-E424-E1C5-24F4-AEA51E842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5A86B-0748-9B21-BB67-9EC0DDEE3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85B24-8A96-B621-049F-92D3D9908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CBE4-7BCD-B940-B948-07D468C2443D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61006-A6CC-9DCC-4BA0-4A974DFEB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CD4D3-4551-DC4D-55F1-D89BC084B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DF409-A72A-284C-AA82-068BCA9D3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6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C3D36-02B5-2751-FC11-C156CC58A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D10E7-B466-97D0-CEE3-3B325D6EC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2092D-B511-D44D-51E1-74FC26EC4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04630-A772-330F-8EC2-71AB41AD5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CBE4-7BCD-B940-B948-07D468C2443D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21F5-18A2-FB9F-6968-596B389CB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DA93C-BF65-47A0-1773-F01B5E001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DF409-A72A-284C-AA82-068BCA9D3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842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1F44-AB31-F20E-1FEC-D6E928CB4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16F9A-2D1A-E9F7-4DC7-FB768C810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06773-2496-80E3-1438-183CE30D1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D6624F-1B94-76E1-F1BB-C167F3082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2328A-9476-0A90-C2B8-51104810C5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F88D44-F46C-E956-C76B-DF7F4DE6A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CBE4-7BCD-B940-B948-07D468C2443D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271630-E3A7-26AD-0C5A-7DDE0B729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C73BC2-D278-D6F3-FAD2-8B0426FE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DF409-A72A-284C-AA82-068BCA9D3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203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4D709-FA56-BE03-9A55-CAB5C673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C2811-328C-6C7F-7253-A9C3A2EE4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CBE4-7BCD-B940-B948-07D468C2443D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A4C3A-F661-C92A-D958-D7E8E9839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945356-15D4-EA1A-D291-5A19EB814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DF409-A72A-284C-AA82-068BCA9D3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87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29D5A8-E991-C52F-7644-98B1A4CB1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CBE4-7BCD-B940-B948-07D468C2443D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012C4-A4EF-83DB-6FAF-959327FDF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5592E-6C12-0D63-FCFD-513BDB7A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DF409-A72A-284C-AA82-068BCA9D3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52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1A29E-2F99-5B23-C9D8-15373C047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B686C-2C76-CFCF-E05A-92D00BBC4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2B4F9-1DF6-0825-8F9D-9C4A14B66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98773-1E57-EC23-BBDF-9BBC7BC12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CBE4-7BCD-B940-B948-07D468C2443D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FB557-A024-7E1B-A13B-43B18E54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3A561-1F4B-1791-EF04-712D7308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DF409-A72A-284C-AA82-068BCA9D3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18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B2FBB-C6B2-8BE9-1A90-8181277BE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40F5DA-2F3E-DF1C-FA91-797E4CA7DD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F8276B-553A-F4C4-1888-566F5974A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22631-D457-069B-F6E5-C3B4A7919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CBE4-7BCD-B940-B948-07D468C2443D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E9A9C-6D74-E354-ECDC-D3031D43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2BCD7-3FFE-B28F-B570-5C21C99E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DF409-A72A-284C-AA82-068BCA9D3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39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7EA70-410D-733E-4B5B-A474FEDD9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9CD542-1258-53BB-035B-1E0A3EBD9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46D20-C0B2-E156-FA89-D5907A050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CBE4-7BCD-B940-B948-07D468C2443D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B4E54-D53F-73B6-DE69-4C9CD472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38D75-8835-4463-4475-0873E46B5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DF409-A72A-284C-AA82-068BCA9D3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61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C0DC9-D902-F1FC-CA7C-067BC99AD1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A956D-2531-21B4-89C4-E0F9015B2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F7CFF-F6A6-88F4-AA8A-CDA652D63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CBE4-7BCD-B940-B948-07D468C2443D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27095-2535-A08E-AB61-CB3E13DC8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8DBB5-C782-0960-21DB-9298F5D73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DF409-A72A-284C-AA82-068BCA9D3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87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DFF08E-92EB-4ACF-EB73-11498CCFA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923EA-E776-4F65-3248-EBB444941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5E9DF-97F3-25CA-B301-33859BBBD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ECBE4-7BCD-B940-B948-07D468C2443D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63E37-C364-BF84-7118-9FBF1DE2D8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D8943-516F-8E99-0935-0BE30C947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DDF409-A72A-284C-AA82-068BCA9D3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44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991100"/>
            <a:ext cx="6947594" cy="5048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95" b="1" i="0" dirty="0">
                <a:solidFill>
                  <a:srgbClr val="FFFFFF"/>
                </a:solidFill>
                <a:latin typeface="Poppins"/>
              </a:rPr>
              <a:t>Performance Monitoring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676900"/>
            <a:ext cx="3622625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>
                    <a:alpha val="95000"/>
                  </a:srgbClr>
                </a:solidFill>
                <a:latin typeface="Open Sans Light"/>
              </a:rPr>
              <a:t>OpenClassrooms AI Engineer - Project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191250"/>
            <a:ext cx="2208311" cy="2095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E2E8F0">
                    <a:alpha val="80000"/>
                  </a:srgbClr>
                </a:solidFill>
                <a:latin typeface="Open Sans Light"/>
              </a:rPr>
              <a:t>Presenter: </a:t>
            </a:r>
            <a:r>
              <a:rPr lang="en-US" sz="1200" b="0" i="0" dirty="0">
                <a:solidFill>
                  <a:srgbClr val="E2E8F0">
                    <a:alpha val="80000"/>
                  </a:srgbClr>
                </a:solidFill>
                <a:latin typeface="Open Sans Light"/>
              </a:rPr>
              <a:t>Sai Gudla</a:t>
            </a:r>
            <a:r>
              <a:rPr sz="1200" b="0" i="0" dirty="0">
                <a:solidFill>
                  <a:srgbClr val="E2E8F0">
                    <a:alpha val="80000"/>
                  </a:srgbClr>
                </a:solidFill>
                <a:latin typeface="Open Sans Light"/>
              </a:rPr>
              <a:t> | March 2026</a:t>
            </a:r>
          </a:p>
        </p:txBody>
      </p:sp>
    </p:spTree>
    <p:extLst>
      <p:ext uri="{BB962C8B-B14F-4D97-AF65-F5344CB8AC3E}">
        <p14:creationId xmlns:p14="http://schemas.microsoft.com/office/powerpoint/2010/main" val="777239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F1994B-D5ED-1942-952F-FA348DE6AFF5}"/>
              </a:ext>
            </a:extLst>
          </p:cNvPr>
          <p:cNvSpPr/>
          <p:nvPr/>
        </p:nvSpPr>
        <p:spPr>
          <a:xfrm>
            <a:off x="0" y="0"/>
            <a:ext cx="4876800" cy="38100"/>
          </a:xfrm>
          <a:prstGeom prst="rect">
            <a:avLst/>
          </a:prstGeom>
          <a:solidFill>
            <a:srgbClr val="1E40A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1E4069-1ACD-D041-B124-DA29F2A60554}"/>
              </a:ext>
            </a:extLst>
          </p:cNvPr>
          <p:cNvSpPr/>
          <p:nvPr/>
        </p:nvSpPr>
        <p:spPr>
          <a:xfrm>
            <a:off x="7924800" y="6819900"/>
            <a:ext cx="4267200" cy="381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BA030D-2633-8546-A371-507107B0B6E7}"/>
              </a:ext>
            </a:extLst>
          </p:cNvPr>
          <p:cNvSpPr txBox="1"/>
          <p:nvPr/>
        </p:nvSpPr>
        <p:spPr>
          <a:xfrm>
            <a:off x="457200" y="304800"/>
            <a:ext cx="635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E40AF"/>
                </a:solidFill>
                <a:latin typeface="Poppins"/>
                <a:cs typeface="Poppins"/>
              </a:rPr>
              <a:t>Model Evaluation Criteria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8C9E7FC-2606-744F-B3D9-80130CB9D570}"/>
              </a:ext>
            </a:extLst>
          </p:cNvPr>
          <p:cNvSpPr/>
          <p:nvPr/>
        </p:nvSpPr>
        <p:spPr>
          <a:xfrm>
            <a:off x="457200" y="1016000"/>
            <a:ext cx="5588000" cy="5588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7E6AE8-88C0-D242-899B-24E4150D3BB9}"/>
              </a:ext>
            </a:extLst>
          </p:cNvPr>
          <p:cNvSpPr/>
          <p:nvPr/>
        </p:nvSpPr>
        <p:spPr>
          <a:xfrm>
            <a:off x="457200" y="1016000"/>
            <a:ext cx="5588000" cy="508000"/>
          </a:xfrm>
          <a:prstGeom prst="rect">
            <a:avLst/>
          </a:prstGeom>
          <a:solidFill>
            <a:srgbClr val="1E40A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402020-E74F-8047-B7E8-62DAA68C857D}"/>
              </a:ext>
            </a:extLst>
          </p:cNvPr>
          <p:cNvSpPr txBox="1"/>
          <p:nvPr/>
        </p:nvSpPr>
        <p:spPr>
          <a:xfrm>
            <a:off x="660400" y="10922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Poppins"/>
                <a:cs typeface="Poppins"/>
              </a:rPr>
              <a:t>Intent Classification Metrics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5984C5-9AA5-F846-9C1A-5CEE776B2E74}"/>
              </a:ext>
            </a:extLst>
          </p:cNvPr>
          <p:cNvSpPr txBox="1"/>
          <p:nvPr/>
        </p:nvSpPr>
        <p:spPr>
          <a:xfrm>
            <a:off x="660400" y="17018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293B"/>
                </a:solidFill>
                <a:latin typeface="Poppins"/>
                <a:cs typeface="Poppins"/>
              </a:rPr>
              <a:t>Precision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0EB23C0-57CC-ED46-A482-18E388C93659}"/>
              </a:ext>
            </a:extLst>
          </p:cNvPr>
          <p:cNvSpPr/>
          <p:nvPr/>
        </p:nvSpPr>
        <p:spPr>
          <a:xfrm>
            <a:off x="4826000" y="1701800"/>
            <a:ext cx="1016000" cy="2540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Poppins"/>
                <a:cs typeface="Poppins"/>
              </a:rPr>
              <a:t>≥ 0.85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E8EACB-7927-7E42-BC7A-1523AFE244FF}"/>
              </a:ext>
            </a:extLst>
          </p:cNvPr>
          <p:cNvSpPr txBox="1"/>
          <p:nvPr/>
        </p:nvSpPr>
        <p:spPr>
          <a:xfrm>
            <a:off x="660400" y="1981200"/>
            <a:ext cx="508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Correct predictions / Total predictions per intent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E96851-E2BD-4349-BA1B-2AE56242FC7A}"/>
              </a:ext>
            </a:extLst>
          </p:cNvPr>
          <p:cNvSpPr/>
          <p:nvPr/>
        </p:nvSpPr>
        <p:spPr>
          <a:xfrm>
            <a:off x="660400" y="2489200"/>
            <a:ext cx="5181600" cy="12700"/>
          </a:xfrm>
          <a:prstGeom prst="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A9F21D-0046-F545-816C-649D27B01AF7}"/>
              </a:ext>
            </a:extLst>
          </p:cNvPr>
          <p:cNvSpPr txBox="1"/>
          <p:nvPr/>
        </p:nvSpPr>
        <p:spPr>
          <a:xfrm>
            <a:off x="660400" y="25654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293B"/>
                </a:solidFill>
                <a:latin typeface="Poppins"/>
                <a:cs typeface="Poppins"/>
              </a:rPr>
              <a:t>Recall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D1A1FF7-6682-7B40-B586-EADF859F3C70}"/>
              </a:ext>
            </a:extLst>
          </p:cNvPr>
          <p:cNvSpPr/>
          <p:nvPr/>
        </p:nvSpPr>
        <p:spPr>
          <a:xfrm>
            <a:off x="4826000" y="2565400"/>
            <a:ext cx="1016000" cy="2540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Poppins"/>
                <a:cs typeface="Poppins"/>
              </a:rPr>
              <a:t>≥ 0.85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CB8E69-5243-CA42-AD2B-DC6778EFD06F}"/>
              </a:ext>
            </a:extLst>
          </p:cNvPr>
          <p:cNvSpPr txBox="1"/>
          <p:nvPr/>
        </p:nvSpPr>
        <p:spPr>
          <a:xfrm>
            <a:off x="660400" y="2844800"/>
            <a:ext cx="508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Correct predictions / Total actual cases per intent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4B935E-A10C-0949-94C5-C94C9432FA08}"/>
              </a:ext>
            </a:extLst>
          </p:cNvPr>
          <p:cNvSpPr/>
          <p:nvPr/>
        </p:nvSpPr>
        <p:spPr>
          <a:xfrm>
            <a:off x="660400" y="3352800"/>
            <a:ext cx="5181600" cy="12700"/>
          </a:xfrm>
          <a:prstGeom prst="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0525C5-738C-9E4A-A5A4-EF7B3C632506}"/>
              </a:ext>
            </a:extLst>
          </p:cNvPr>
          <p:cNvSpPr txBox="1"/>
          <p:nvPr/>
        </p:nvSpPr>
        <p:spPr>
          <a:xfrm>
            <a:off x="660400" y="3429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293B"/>
                </a:solidFill>
                <a:latin typeface="Poppins"/>
                <a:cs typeface="Poppins"/>
              </a:rPr>
              <a:t>F1 Score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82AA188-A33B-6842-A0C0-1C56526AFCEF}"/>
              </a:ext>
            </a:extLst>
          </p:cNvPr>
          <p:cNvSpPr/>
          <p:nvPr/>
        </p:nvSpPr>
        <p:spPr>
          <a:xfrm>
            <a:off x="4826000" y="3429000"/>
            <a:ext cx="1016000" cy="2540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Poppins"/>
                <a:cs typeface="Poppins"/>
              </a:rPr>
              <a:t>≥ 0.85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DC580F-D63D-F84A-B11F-E304DA9490E6}"/>
              </a:ext>
            </a:extLst>
          </p:cNvPr>
          <p:cNvSpPr txBox="1"/>
          <p:nvPr/>
        </p:nvSpPr>
        <p:spPr>
          <a:xfrm>
            <a:off x="660400" y="3708400"/>
            <a:ext cx="508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Harmonic mean of precision and recall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DD16D4-D99E-D345-A759-F89F459B71F1}"/>
              </a:ext>
            </a:extLst>
          </p:cNvPr>
          <p:cNvSpPr/>
          <p:nvPr/>
        </p:nvSpPr>
        <p:spPr>
          <a:xfrm>
            <a:off x="660400" y="4216400"/>
            <a:ext cx="5181600" cy="12700"/>
          </a:xfrm>
          <a:prstGeom prst="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2A91DA-624A-D344-ACFF-C820DC543575}"/>
              </a:ext>
            </a:extLst>
          </p:cNvPr>
          <p:cNvSpPr txBox="1"/>
          <p:nvPr/>
        </p:nvSpPr>
        <p:spPr>
          <a:xfrm>
            <a:off x="660400" y="4292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293B"/>
                </a:solidFill>
                <a:latin typeface="Poppins"/>
                <a:cs typeface="Poppins"/>
              </a:rPr>
              <a:t>Accuracy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3F5F779-6894-6248-9058-3D9FBE64038E}"/>
              </a:ext>
            </a:extLst>
          </p:cNvPr>
          <p:cNvSpPr/>
          <p:nvPr/>
        </p:nvSpPr>
        <p:spPr>
          <a:xfrm>
            <a:off x="4826000" y="4292600"/>
            <a:ext cx="1016000" cy="2540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Poppins"/>
                <a:cs typeface="Poppins"/>
              </a:rPr>
              <a:t>≥ 0.90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63589E-7B51-2147-8918-508C6884014D}"/>
              </a:ext>
            </a:extLst>
          </p:cNvPr>
          <p:cNvSpPr txBox="1"/>
          <p:nvPr/>
        </p:nvSpPr>
        <p:spPr>
          <a:xfrm>
            <a:off x="660400" y="4572000"/>
            <a:ext cx="508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Overall correct intent classifications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266AAD5-4DFD-7D44-B868-80CF1E9042B0}"/>
              </a:ext>
            </a:extLst>
          </p:cNvPr>
          <p:cNvSpPr/>
          <p:nvPr/>
        </p:nvSpPr>
        <p:spPr>
          <a:xfrm>
            <a:off x="6350000" y="1016000"/>
            <a:ext cx="5588000" cy="5588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07878C-5383-8F4D-A415-6346B58E8010}"/>
              </a:ext>
            </a:extLst>
          </p:cNvPr>
          <p:cNvSpPr/>
          <p:nvPr/>
        </p:nvSpPr>
        <p:spPr>
          <a:xfrm>
            <a:off x="6350000" y="1016000"/>
            <a:ext cx="5588000" cy="5080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998ED8-FC2B-5A47-B6A6-59BD51BA0B47}"/>
              </a:ext>
            </a:extLst>
          </p:cNvPr>
          <p:cNvSpPr txBox="1"/>
          <p:nvPr/>
        </p:nvSpPr>
        <p:spPr>
          <a:xfrm>
            <a:off x="6553200" y="10922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Poppins"/>
                <a:cs typeface="Poppins"/>
              </a:rPr>
              <a:t>Entity Extraction Metrics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45CB93-FB7A-2542-B9CD-21AA2C651DDE}"/>
              </a:ext>
            </a:extLst>
          </p:cNvPr>
          <p:cNvSpPr txBox="1"/>
          <p:nvPr/>
        </p:nvSpPr>
        <p:spPr>
          <a:xfrm>
            <a:off x="6553200" y="17018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293B"/>
                </a:solidFill>
                <a:latin typeface="Poppins"/>
                <a:cs typeface="Poppins"/>
              </a:rPr>
              <a:t>Entity Precision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99F909D-F17D-A942-8394-5FC339E51BFF}"/>
              </a:ext>
            </a:extLst>
          </p:cNvPr>
          <p:cNvSpPr/>
          <p:nvPr/>
        </p:nvSpPr>
        <p:spPr>
          <a:xfrm>
            <a:off x="10718800" y="1701800"/>
            <a:ext cx="1016000" cy="2540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Poppins"/>
                <a:cs typeface="Poppins"/>
              </a:rPr>
              <a:t>≥ 0.80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8745D9-3A5F-EE49-B5B3-6F757D72AE88}"/>
              </a:ext>
            </a:extLst>
          </p:cNvPr>
          <p:cNvSpPr txBox="1"/>
          <p:nvPr/>
        </p:nvSpPr>
        <p:spPr>
          <a:xfrm>
            <a:off x="6553200" y="1981200"/>
            <a:ext cx="508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Correctly extracted entities / Total extracted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F92D62C-0E5B-BC4F-8587-D01C8FEB5213}"/>
              </a:ext>
            </a:extLst>
          </p:cNvPr>
          <p:cNvSpPr/>
          <p:nvPr/>
        </p:nvSpPr>
        <p:spPr>
          <a:xfrm>
            <a:off x="6553200" y="2489200"/>
            <a:ext cx="5181600" cy="12700"/>
          </a:xfrm>
          <a:prstGeom prst="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148B41-871E-7F44-90B7-25F563ED4CB0}"/>
              </a:ext>
            </a:extLst>
          </p:cNvPr>
          <p:cNvSpPr txBox="1"/>
          <p:nvPr/>
        </p:nvSpPr>
        <p:spPr>
          <a:xfrm>
            <a:off x="6553200" y="25654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293B"/>
                </a:solidFill>
                <a:latin typeface="Poppins"/>
                <a:cs typeface="Poppins"/>
              </a:rPr>
              <a:t>Entity Recall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C5CAACE-DE41-F940-A006-92D90E07B353}"/>
              </a:ext>
            </a:extLst>
          </p:cNvPr>
          <p:cNvSpPr/>
          <p:nvPr/>
        </p:nvSpPr>
        <p:spPr>
          <a:xfrm>
            <a:off x="10718800" y="2565400"/>
            <a:ext cx="1016000" cy="2540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Poppins"/>
                <a:cs typeface="Poppins"/>
              </a:rPr>
              <a:t>≥ 0.80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821F2B-DF17-7D49-B299-E3AFCBB488D5}"/>
              </a:ext>
            </a:extLst>
          </p:cNvPr>
          <p:cNvSpPr txBox="1"/>
          <p:nvPr/>
        </p:nvSpPr>
        <p:spPr>
          <a:xfrm>
            <a:off x="6553200" y="2844800"/>
            <a:ext cx="508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Correctly extracted entities / Total expected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5B163A5-6C83-5F46-B6D4-B069A2A27036}"/>
              </a:ext>
            </a:extLst>
          </p:cNvPr>
          <p:cNvSpPr/>
          <p:nvPr/>
        </p:nvSpPr>
        <p:spPr>
          <a:xfrm>
            <a:off x="6553200" y="3352800"/>
            <a:ext cx="5181600" cy="12700"/>
          </a:xfrm>
          <a:prstGeom prst="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0DD968-A8B7-754E-9832-058A98EF4028}"/>
              </a:ext>
            </a:extLst>
          </p:cNvPr>
          <p:cNvSpPr txBox="1"/>
          <p:nvPr/>
        </p:nvSpPr>
        <p:spPr>
          <a:xfrm>
            <a:off x="6553200" y="3429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293B"/>
                </a:solidFill>
                <a:latin typeface="Poppins"/>
                <a:cs typeface="Poppins"/>
              </a:rPr>
              <a:t>Entity F1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B144B21-EC91-6E41-914A-9E8E34D82F89}"/>
              </a:ext>
            </a:extLst>
          </p:cNvPr>
          <p:cNvSpPr/>
          <p:nvPr/>
        </p:nvSpPr>
        <p:spPr>
          <a:xfrm>
            <a:off x="10718800" y="3429000"/>
            <a:ext cx="1016000" cy="2540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Poppins"/>
                <a:cs typeface="Poppins"/>
              </a:rPr>
              <a:t>≥ 0.80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B769A0-106F-0D4A-A599-F0849BB90E64}"/>
              </a:ext>
            </a:extLst>
          </p:cNvPr>
          <p:cNvSpPr txBox="1"/>
          <p:nvPr/>
        </p:nvSpPr>
        <p:spPr>
          <a:xfrm>
            <a:off x="6553200" y="3708400"/>
            <a:ext cx="508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Harmonic mean per entity type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364B2CF-424E-014C-ADF4-4CFFAF2D36F5}"/>
              </a:ext>
            </a:extLst>
          </p:cNvPr>
          <p:cNvSpPr/>
          <p:nvPr/>
        </p:nvSpPr>
        <p:spPr>
          <a:xfrm>
            <a:off x="6553200" y="4699000"/>
            <a:ext cx="5181600" cy="1016000"/>
          </a:xfrm>
          <a:prstGeom prst="roundRect">
            <a:avLst/>
          </a:prstGeom>
          <a:solidFill>
            <a:srgbClr val="EFF6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093EC7-94F1-204E-ADED-8F45547D4159}"/>
              </a:ext>
            </a:extLst>
          </p:cNvPr>
          <p:cNvSpPr txBox="1"/>
          <p:nvPr/>
        </p:nvSpPr>
        <p:spPr>
          <a:xfrm>
            <a:off x="6705600" y="4826000"/>
            <a:ext cx="4876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E40AF"/>
                </a:solidFill>
                <a:latin typeface="Open Sans Light"/>
                <a:ea typeface="Open Sans Light"/>
                <a:cs typeface="Open Sans Light"/>
              </a:rPr>
              <a:t>All 5 entity types (or_city, dst_city, str_date, end_date, budget) must individually meet the ≥ 0.80 F1 threshold</a:t>
            </a:r>
          </a:p>
        </p:txBody>
      </p:sp>
    </p:spTree>
    <p:extLst>
      <p:ext uri="{BB962C8B-B14F-4D97-AF65-F5344CB8AC3E}">
        <p14:creationId xmlns:p14="http://schemas.microsoft.com/office/powerpoint/2010/main" val="2913311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37C450-5341-9A41-B000-E2A1CC503B95}"/>
              </a:ext>
            </a:extLst>
          </p:cNvPr>
          <p:cNvSpPr/>
          <p:nvPr/>
        </p:nvSpPr>
        <p:spPr>
          <a:xfrm>
            <a:off x="0" y="0"/>
            <a:ext cx="4876800" cy="38100"/>
          </a:xfrm>
          <a:prstGeom prst="rect">
            <a:avLst/>
          </a:prstGeom>
          <a:solidFill>
            <a:srgbClr val="1E40A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F5C64F-0088-4443-9DF5-098D005A1EF3}"/>
              </a:ext>
            </a:extLst>
          </p:cNvPr>
          <p:cNvSpPr/>
          <p:nvPr/>
        </p:nvSpPr>
        <p:spPr>
          <a:xfrm>
            <a:off x="7924800" y="6819900"/>
            <a:ext cx="4267200" cy="381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BD2672-56D7-AE4E-8123-68ECE2619AF9}"/>
              </a:ext>
            </a:extLst>
          </p:cNvPr>
          <p:cNvSpPr txBox="1"/>
          <p:nvPr/>
        </p:nvSpPr>
        <p:spPr>
          <a:xfrm>
            <a:off x="457200" y="304800"/>
            <a:ext cx="762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E40AF"/>
                </a:solidFill>
                <a:latin typeface="Poppins"/>
                <a:cs typeface="Poppins"/>
              </a:rPr>
              <a:t>Production Metrics &amp; Thresholds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93B1F-FC85-7340-8A7F-9E57708569CB}"/>
              </a:ext>
            </a:extLst>
          </p:cNvPr>
          <p:cNvSpPr txBox="1"/>
          <p:nvPr/>
        </p:nvSpPr>
        <p:spPr>
          <a:xfrm>
            <a:off x="457200" y="8128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Real-time KPIs monitored in production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F38C305-3B5F-6042-B5F2-7478E80C8582}"/>
              </a:ext>
            </a:extLst>
          </p:cNvPr>
          <p:cNvSpPr/>
          <p:nvPr/>
        </p:nvSpPr>
        <p:spPr>
          <a:xfrm>
            <a:off x="457200" y="1270000"/>
            <a:ext cx="5486400" cy="25146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E6AE3F-25A4-0647-B389-68F9BD2F2CBF}"/>
              </a:ext>
            </a:extLst>
          </p:cNvPr>
          <p:cNvSpPr/>
          <p:nvPr/>
        </p:nvSpPr>
        <p:spPr>
          <a:xfrm>
            <a:off x="457200" y="1270000"/>
            <a:ext cx="50800" cy="2514600"/>
          </a:xfrm>
          <a:prstGeom prst="rect">
            <a:avLst/>
          </a:prstGeom>
          <a:solidFill>
            <a:srgbClr val="DC262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84FF65F-7799-8245-9551-D9570D947222}"/>
              </a:ext>
            </a:extLst>
          </p:cNvPr>
          <p:cNvSpPr/>
          <p:nvPr/>
        </p:nvSpPr>
        <p:spPr>
          <a:xfrm>
            <a:off x="711200" y="1498600"/>
            <a:ext cx="508000" cy="508000"/>
          </a:xfrm>
          <a:prstGeom prst="ellipse">
            <a:avLst/>
          </a:prstGeom>
          <a:solidFill>
            <a:srgbClr val="FEE2E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7E504F-4D51-6742-A3FF-5C65F6CDDA3A}"/>
              </a:ext>
            </a:extLst>
          </p:cNvPr>
          <p:cNvSpPr txBox="1"/>
          <p:nvPr/>
        </p:nvSpPr>
        <p:spPr>
          <a:xfrm>
            <a:off x="1371600" y="1498600"/>
            <a:ext cx="4343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E293B"/>
                </a:solidFill>
                <a:latin typeface="Poppins"/>
                <a:cs typeface="Poppins"/>
              </a:rPr>
              <a:t>Comprehension Rate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1C7A87-9C05-B840-9F57-CBD4E4A7C276}"/>
              </a:ext>
            </a:extLst>
          </p:cNvPr>
          <p:cNvSpPr txBox="1"/>
          <p:nvPr/>
        </p:nvSpPr>
        <p:spPr>
          <a:xfrm>
            <a:off x="1371600" y="1854200"/>
            <a:ext cx="4343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% of user messages understood by the NLU model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6935BE4-D34F-764C-99A2-213ED261135E}"/>
              </a:ext>
            </a:extLst>
          </p:cNvPr>
          <p:cNvSpPr/>
          <p:nvPr/>
        </p:nvSpPr>
        <p:spPr>
          <a:xfrm>
            <a:off x="711200" y="2667000"/>
            <a:ext cx="4978400" cy="8636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738C43-F835-684A-A8B3-8C8719FD38BE}"/>
              </a:ext>
            </a:extLst>
          </p:cNvPr>
          <p:cNvSpPr txBox="1"/>
          <p:nvPr/>
        </p:nvSpPr>
        <p:spPr>
          <a:xfrm>
            <a:off x="914400" y="27432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94A3B8"/>
                </a:solidFill>
                <a:latin typeface="Poppins"/>
                <a:cs typeface="Poppins"/>
              </a:rPr>
              <a:t>Alert Threshold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8475D5-A5C6-1E44-99F4-CD64B2680837}"/>
              </a:ext>
            </a:extLst>
          </p:cNvPr>
          <p:cNvSpPr txBox="1"/>
          <p:nvPr/>
        </p:nvSpPr>
        <p:spPr>
          <a:xfrm>
            <a:off x="914400" y="30226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C2626"/>
                </a:solidFill>
                <a:latin typeface="Poppins"/>
                <a:cs typeface="Poppins"/>
              </a:rPr>
              <a:t>&lt; 80% triggers alert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423B0AD-BC7B-3A49-89C6-62E79BF42EBD}"/>
              </a:ext>
            </a:extLst>
          </p:cNvPr>
          <p:cNvSpPr/>
          <p:nvPr/>
        </p:nvSpPr>
        <p:spPr>
          <a:xfrm>
            <a:off x="6248400" y="1270000"/>
            <a:ext cx="5486400" cy="25146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6E3AE2-0F7B-A349-8132-16802975604F}"/>
              </a:ext>
            </a:extLst>
          </p:cNvPr>
          <p:cNvSpPr/>
          <p:nvPr/>
        </p:nvSpPr>
        <p:spPr>
          <a:xfrm>
            <a:off x="6248400" y="1270000"/>
            <a:ext cx="50800" cy="2514600"/>
          </a:xfrm>
          <a:prstGeom prst="rect">
            <a:avLst/>
          </a:prstGeom>
          <a:solidFill>
            <a:srgbClr val="F59E0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0F3DE4B-C60B-C041-AF50-8A280F5E2A45}"/>
              </a:ext>
            </a:extLst>
          </p:cNvPr>
          <p:cNvSpPr/>
          <p:nvPr/>
        </p:nvSpPr>
        <p:spPr>
          <a:xfrm>
            <a:off x="6502400" y="1498600"/>
            <a:ext cx="508000" cy="508000"/>
          </a:xfrm>
          <a:prstGeom prst="ellipse">
            <a:avLst/>
          </a:prstGeom>
          <a:solidFill>
            <a:srgbClr val="FEF3C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6C2D24-CDA0-3742-9758-80A74707C57E}"/>
              </a:ext>
            </a:extLst>
          </p:cNvPr>
          <p:cNvSpPr txBox="1"/>
          <p:nvPr/>
        </p:nvSpPr>
        <p:spPr>
          <a:xfrm>
            <a:off x="7162800" y="1498600"/>
            <a:ext cx="4343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E293B"/>
                </a:solidFill>
                <a:latin typeface="Poppins"/>
                <a:cs typeface="Poppins"/>
              </a:rPr>
              <a:t>Booking Completion Rate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81269-4110-8342-B88D-3496A10C1DD9}"/>
              </a:ext>
            </a:extLst>
          </p:cNvPr>
          <p:cNvSpPr txBox="1"/>
          <p:nvPr/>
        </p:nvSpPr>
        <p:spPr>
          <a:xfrm>
            <a:off x="7162800" y="1854200"/>
            <a:ext cx="4343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% of started bookings successfully completed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D088DBF-5E70-7E46-B13A-6313F33F5D54}"/>
              </a:ext>
            </a:extLst>
          </p:cNvPr>
          <p:cNvSpPr/>
          <p:nvPr/>
        </p:nvSpPr>
        <p:spPr>
          <a:xfrm>
            <a:off x="6502400" y="2667000"/>
            <a:ext cx="4978400" cy="8636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06C7FD-32E4-474F-989A-CA3ABB0020C7}"/>
              </a:ext>
            </a:extLst>
          </p:cNvPr>
          <p:cNvSpPr txBox="1"/>
          <p:nvPr/>
        </p:nvSpPr>
        <p:spPr>
          <a:xfrm>
            <a:off x="6705600" y="27432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94A3B8"/>
                </a:solidFill>
                <a:latin typeface="Poppins"/>
                <a:cs typeface="Poppins"/>
              </a:rPr>
              <a:t>Alert Threshold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FD1AE1-75BA-5D47-966E-1036431D3853}"/>
              </a:ext>
            </a:extLst>
          </p:cNvPr>
          <p:cNvSpPr txBox="1"/>
          <p:nvPr/>
        </p:nvSpPr>
        <p:spPr>
          <a:xfrm>
            <a:off x="6705600" y="30226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59E0B"/>
                </a:solidFill>
                <a:latin typeface="Poppins"/>
                <a:cs typeface="Poppins"/>
              </a:rPr>
              <a:t>&lt; 50% triggers review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0A7291C-AC84-7742-A664-BF356F42B3F9}"/>
              </a:ext>
            </a:extLst>
          </p:cNvPr>
          <p:cNvSpPr/>
          <p:nvPr/>
        </p:nvSpPr>
        <p:spPr>
          <a:xfrm>
            <a:off x="457200" y="4038600"/>
            <a:ext cx="5486400" cy="25146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BF78D3-1715-0F44-BE7C-2D00F40FE0BE}"/>
              </a:ext>
            </a:extLst>
          </p:cNvPr>
          <p:cNvSpPr/>
          <p:nvPr/>
        </p:nvSpPr>
        <p:spPr>
          <a:xfrm>
            <a:off x="457200" y="4038600"/>
            <a:ext cx="50800" cy="2514600"/>
          </a:xfrm>
          <a:prstGeom prst="rect">
            <a:avLst/>
          </a:prstGeom>
          <a:solidFill>
            <a:srgbClr val="F59E0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C218EC3-53F9-2F4F-8D4A-4AF522143664}"/>
              </a:ext>
            </a:extLst>
          </p:cNvPr>
          <p:cNvSpPr/>
          <p:nvPr/>
        </p:nvSpPr>
        <p:spPr>
          <a:xfrm>
            <a:off x="711200" y="4267200"/>
            <a:ext cx="508000" cy="508000"/>
          </a:xfrm>
          <a:prstGeom prst="ellipse">
            <a:avLst/>
          </a:prstGeom>
          <a:solidFill>
            <a:srgbClr val="FEF3C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A4FD79-E810-C547-AD16-D861BCC889FE}"/>
              </a:ext>
            </a:extLst>
          </p:cNvPr>
          <p:cNvSpPr txBox="1"/>
          <p:nvPr/>
        </p:nvSpPr>
        <p:spPr>
          <a:xfrm>
            <a:off x="1371600" y="4267200"/>
            <a:ext cx="4343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E293B"/>
                </a:solidFill>
                <a:latin typeface="Poppins"/>
                <a:cs typeface="Poppins"/>
              </a:rPr>
              <a:t>Average Dialog Length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54FF26-713C-4049-A1B0-9637AFEE4340}"/>
              </a:ext>
            </a:extLst>
          </p:cNvPr>
          <p:cNvSpPr txBox="1"/>
          <p:nvPr/>
        </p:nvSpPr>
        <p:spPr>
          <a:xfrm>
            <a:off x="1371600" y="4622800"/>
            <a:ext cx="4343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Mean number of turns per booking interaction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8A74551-09FD-3D42-9170-29BD42DB8F7C}"/>
              </a:ext>
            </a:extLst>
          </p:cNvPr>
          <p:cNvSpPr/>
          <p:nvPr/>
        </p:nvSpPr>
        <p:spPr>
          <a:xfrm>
            <a:off x="711200" y="5435600"/>
            <a:ext cx="4978400" cy="8636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060418-7905-9E4C-A67C-FF9818F081A0}"/>
              </a:ext>
            </a:extLst>
          </p:cNvPr>
          <p:cNvSpPr txBox="1"/>
          <p:nvPr/>
        </p:nvSpPr>
        <p:spPr>
          <a:xfrm>
            <a:off x="914400" y="55118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94A3B8"/>
                </a:solidFill>
                <a:latin typeface="Poppins"/>
                <a:cs typeface="Poppins"/>
              </a:rPr>
              <a:t>Alert Threshold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A77EA8-19C2-E546-B486-F3A176F38D48}"/>
              </a:ext>
            </a:extLst>
          </p:cNvPr>
          <p:cNvSpPr txBox="1"/>
          <p:nvPr/>
        </p:nvSpPr>
        <p:spPr>
          <a:xfrm>
            <a:off x="914400" y="57912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59E0B"/>
                </a:solidFill>
                <a:latin typeface="Poppins"/>
                <a:cs typeface="Poppins"/>
              </a:rPr>
              <a:t>&gt; 10 turns triggers review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4585D49-5CF0-204C-82BF-51102DEFEA70}"/>
              </a:ext>
            </a:extLst>
          </p:cNvPr>
          <p:cNvSpPr/>
          <p:nvPr/>
        </p:nvSpPr>
        <p:spPr>
          <a:xfrm>
            <a:off x="6248400" y="4038600"/>
            <a:ext cx="5486400" cy="25146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9D9D676-9279-BB44-946C-6267BD06D86D}"/>
              </a:ext>
            </a:extLst>
          </p:cNvPr>
          <p:cNvSpPr/>
          <p:nvPr/>
        </p:nvSpPr>
        <p:spPr>
          <a:xfrm>
            <a:off x="6248400" y="4038600"/>
            <a:ext cx="50800" cy="2514600"/>
          </a:xfrm>
          <a:prstGeom prst="rect">
            <a:avLst/>
          </a:prstGeom>
          <a:solidFill>
            <a:srgbClr val="DC262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7B194A4-52FB-EC46-BD79-9BB36F4C7F5D}"/>
              </a:ext>
            </a:extLst>
          </p:cNvPr>
          <p:cNvSpPr/>
          <p:nvPr/>
        </p:nvSpPr>
        <p:spPr>
          <a:xfrm>
            <a:off x="6502400" y="4267200"/>
            <a:ext cx="508000" cy="508000"/>
          </a:xfrm>
          <a:prstGeom prst="ellipse">
            <a:avLst/>
          </a:prstGeom>
          <a:solidFill>
            <a:srgbClr val="FEE2E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73CCD7-030B-C445-9C15-C16BC840C3C7}"/>
              </a:ext>
            </a:extLst>
          </p:cNvPr>
          <p:cNvSpPr txBox="1"/>
          <p:nvPr/>
        </p:nvSpPr>
        <p:spPr>
          <a:xfrm>
            <a:off x="7162800" y="4267200"/>
            <a:ext cx="4343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E293B"/>
                </a:solidFill>
                <a:latin typeface="Poppins"/>
                <a:cs typeface="Poppins"/>
              </a:rPr>
              <a:t>Error Rate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17D8D1-9D69-544E-904D-549805CF161D}"/>
              </a:ext>
            </a:extLst>
          </p:cNvPr>
          <p:cNvSpPr txBox="1"/>
          <p:nvPr/>
        </p:nvSpPr>
        <p:spPr>
          <a:xfrm>
            <a:off x="7162800" y="4622800"/>
            <a:ext cx="4343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Bot errors per hour in production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5DA9B0B-45E9-E842-84A1-678597F0E871}"/>
              </a:ext>
            </a:extLst>
          </p:cNvPr>
          <p:cNvSpPr/>
          <p:nvPr/>
        </p:nvSpPr>
        <p:spPr>
          <a:xfrm>
            <a:off x="6502400" y="5435600"/>
            <a:ext cx="4978400" cy="8636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A62DD7-602A-754D-928F-C1637204DADB}"/>
              </a:ext>
            </a:extLst>
          </p:cNvPr>
          <p:cNvSpPr txBox="1"/>
          <p:nvPr/>
        </p:nvSpPr>
        <p:spPr>
          <a:xfrm>
            <a:off x="6705600" y="55118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94A3B8"/>
                </a:solidFill>
                <a:latin typeface="Poppins"/>
                <a:cs typeface="Poppins"/>
              </a:rPr>
              <a:t>Alert Threshold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489EA5-3240-D644-B39E-E7E9943D184B}"/>
              </a:ext>
            </a:extLst>
          </p:cNvPr>
          <p:cNvSpPr txBox="1"/>
          <p:nvPr/>
        </p:nvSpPr>
        <p:spPr>
          <a:xfrm>
            <a:off x="6705600" y="57912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C2626"/>
                </a:solidFill>
                <a:latin typeface="Poppins"/>
                <a:cs typeface="Poppins"/>
              </a:rPr>
              <a:t>&gt; 5/hour triggers alert</a:t>
            </a:r>
          </a:p>
        </p:txBody>
      </p:sp>
    </p:spTree>
    <p:extLst>
      <p:ext uri="{BB962C8B-B14F-4D97-AF65-F5344CB8AC3E}">
        <p14:creationId xmlns:p14="http://schemas.microsoft.com/office/powerpoint/2010/main" val="792400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E58680-2CED-9645-85D7-356B3466211B}"/>
              </a:ext>
            </a:extLst>
          </p:cNvPr>
          <p:cNvSpPr/>
          <p:nvPr/>
        </p:nvSpPr>
        <p:spPr>
          <a:xfrm>
            <a:off x="0" y="0"/>
            <a:ext cx="4876800" cy="38100"/>
          </a:xfrm>
          <a:prstGeom prst="rect">
            <a:avLst/>
          </a:prstGeom>
          <a:solidFill>
            <a:srgbClr val="1E40A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AF9977-447D-AB49-B10E-256BAA06BFAE}"/>
              </a:ext>
            </a:extLst>
          </p:cNvPr>
          <p:cNvSpPr/>
          <p:nvPr/>
        </p:nvSpPr>
        <p:spPr>
          <a:xfrm>
            <a:off x="7924800" y="6819900"/>
            <a:ext cx="4267200" cy="381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741BB6-4E3A-C744-9270-836626AF5820}"/>
              </a:ext>
            </a:extLst>
          </p:cNvPr>
          <p:cNvSpPr txBox="1"/>
          <p:nvPr/>
        </p:nvSpPr>
        <p:spPr>
          <a:xfrm>
            <a:off x="457200" y="304800"/>
            <a:ext cx="762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E40AF"/>
                </a:solidFill>
                <a:latin typeface="Poppins"/>
                <a:cs typeface="Poppins"/>
              </a:rPr>
              <a:t>Production Evaluation Mechanism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0A76E71-9157-1449-9113-529AAF94DE3B}"/>
              </a:ext>
            </a:extLst>
          </p:cNvPr>
          <p:cNvSpPr/>
          <p:nvPr/>
        </p:nvSpPr>
        <p:spPr>
          <a:xfrm>
            <a:off x="609600" y="1016000"/>
            <a:ext cx="2540000" cy="2159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646375-6AC0-0F42-ACC2-A0D0BCD9351C}"/>
              </a:ext>
            </a:extLst>
          </p:cNvPr>
          <p:cNvSpPr/>
          <p:nvPr/>
        </p:nvSpPr>
        <p:spPr>
          <a:xfrm>
            <a:off x="609600" y="1016000"/>
            <a:ext cx="2540000" cy="50800"/>
          </a:xfrm>
          <a:prstGeom prst="rect">
            <a:avLst/>
          </a:prstGeom>
          <a:solidFill>
            <a:srgbClr val="1E40A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86377D-C9F0-7745-812D-E4759A6BC488}"/>
              </a:ext>
            </a:extLst>
          </p:cNvPr>
          <p:cNvSpPr/>
          <p:nvPr/>
        </p:nvSpPr>
        <p:spPr>
          <a:xfrm>
            <a:off x="1625600" y="1219200"/>
            <a:ext cx="508000" cy="508000"/>
          </a:xfrm>
          <a:prstGeom prst="ellipse">
            <a:avLst/>
          </a:prstGeom>
          <a:solidFill>
            <a:srgbClr val="1E40A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Poppins"/>
                <a:cs typeface="Poppins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997757-E774-0F44-A8DE-94929C2FAA9D}"/>
              </a:ext>
            </a:extLst>
          </p:cNvPr>
          <p:cNvSpPr txBox="1"/>
          <p:nvPr/>
        </p:nvSpPr>
        <p:spPr>
          <a:xfrm>
            <a:off x="736600" y="18034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E293B"/>
                </a:solidFill>
                <a:latin typeface="Poppins"/>
                <a:cs typeface="Poppins"/>
              </a:rPr>
              <a:t>Collection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040FD6-0E79-8542-9608-04FF745E85F6}"/>
              </a:ext>
            </a:extLst>
          </p:cNvPr>
          <p:cNvSpPr txBox="1"/>
          <p:nvPr/>
        </p:nvSpPr>
        <p:spPr>
          <a:xfrm>
            <a:off x="736600" y="2159000"/>
            <a:ext cx="228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Every user interaction logged with intent, entities, confidence score, and bot response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BA63BFBC-3C0F-E246-A06F-64560D73A525}"/>
              </a:ext>
            </a:extLst>
          </p:cNvPr>
          <p:cNvSpPr/>
          <p:nvPr/>
        </p:nvSpPr>
        <p:spPr>
          <a:xfrm>
            <a:off x="3200400" y="2006600"/>
            <a:ext cx="127000" cy="177800"/>
          </a:xfrm>
          <a:prstGeom prst="rightArrow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5CE5DD4-59CF-F24B-8D5C-0F956A9CA5A0}"/>
              </a:ext>
            </a:extLst>
          </p:cNvPr>
          <p:cNvSpPr/>
          <p:nvPr/>
        </p:nvSpPr>
        <p:spPr>
          <a:xfrm>
            <a:off x="3378200" y="1016000"/>
            <a:ext cx="2540000" cy="2159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96D2F1-2F7F-4B4C-9966-FB01A6BFA530}"/>
              </a:ext>
            </a:extLst>
          </p:cNvPr>
          <p:cNvSpPr/>
          <p:nvPr/>
        </p:nvSpPr>
        <p:spPr>
          <a:xfrm>
            <a:off x="3378200" y="1016000"/>
            <a:ext cx="2540000" cy="508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C5D081B-EB69-6A4D-886C-AC65360F4103}"/>
              </a:ext>
            </a:extLst>
          </p:cNvPr>
          <p:cNvSpPr/>
          <p:nvPr/>
        </p:nvSpPr>
        <p:spPr>
          <a:xfrm>
            <a:off x="4394200" y="1219200"/>
            <a:ext cx="508000" cy="508000"/>
          </a:xfrm>
          <a:prstGeom prst="ellipse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Poppins"/>
                <a:cs typeface="Poppins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EA3D5-D031-B543-AB26-E021225579EA}"/>
              </a:ext>
            </a:extLst>
          </p:cNvPr>
          <p:cNvSpPr txBox="1"/>
          <p:nvPr/>
        </p:nvSpPr>
        <p:spPr>
          <a:xfrm>
            <a:off x="3505200" y="18034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E293B"/>
                </a:solidFill>
                <a:latin typeface="Poppins"/>
                <a:cs typeface="Poppins"/>
              </a:rPr>
              <a:t>Storage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B97A5D-A50D-2D48-B315-7B025772D69D}"/>
              </a:ext>
            </a:extLst>
          </p:cNvPr>
          <p:cNvSpPr txBox="1"/>
          <p:nvPr/>
        </p:nvSpPr>
        <p:spPr>
          <a:xfrm>
            <a:off x="3505200" y="2159000"/>
            <a:ext cx="228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Data stored in Application Insights / Log Analytics workspace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8AA7B406-18F8-8C41-B544-A9CA062FCE72}"/>
              </a:ext>
            </a:extLst>
          </p:cNvPr>
          <p:cNvSpPr/>
          <p:nvPr/>
        </p:nvSpPr>
        <p:spPr>
          <a:xfrm>
            <a:off x="5969000" y="2006600"/>
            <a:ext cx="127000" cy="177800"/>
          </a:xfrm>
          <a:prstGeom prst="rightArrow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7818E53-4326-A541-B198-8553A6DF1DF4}"/>
              </a:ext>
            </a:extLst>
          </p:cNvPr>
          <p:cNvSpPr/>
          <p:nvPr/>
        </p:nvSpPr>
        <p:spPr>
          <a:xfrm>
            <a:off x="6146800" y="1016000"/>
            <a:ext cx="2540000" cy="2159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C9A201-91F3-FD49-89FA-113EEDC90280}"/>
              </a:ext>
            </a:extLst>
          </p:cNvPr>
          <p:cNvSpPr/>
          <p:nvPr/>
        </p:nvSpPr>
        <p:spPr>
          <a:xfrm>
            <a:off x="6146800" y="1016000"/>
            <a:ext cx="2540000" cy="50800"/>
          </a:xfrm>
          <a:prstGeom prst="rect">
            <a:avLst/>
          </a:prstGeom>
          <a:solidFill>
            <a:srgbClr val="0EA5E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F6CD579-1683-A440-8158-837A06F58B83}"/>
              </a:ext>
            </a:extLst>
          </p:cNvPr>
          <p:cNvSpPr/>
          <p:nvPr/>
        </p:nvSpPr>
        <p:spPr>
          <a:xfrm>
            <a:off x="7162800" y="1219200"/>
            <a:ext cx="508000" cy="508000"/>
          </a:xfrm>
          <a:prstGeom prst="ellipse">
            <a:avLst/>
          </a:prstGeom>
          <a:solidFill>
            <a:srgbClr val="0EA5E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Poppins"/>
                <a:cs typeface="Poppins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24AB9E-A701-624B-BC3C-FE2DF51D3650}"/>
              </a:ext>
            </a:extLst>
          </p:cNvPr>
          <p:cNvSpPr txBox="1"/>
          <p:nvPr/>
        </p:nvSpPr>
        <p:spPr>
          <a:xfrm>
            <a:off x="6273800" y="18034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E293B"/>
                </a:solidFill>
                <a:latin typeface="Poppins"/>
                <a:cs typeface="Poppins"/>
              </a:rPr>
              <a:t>Analysis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F874B6-3F46-0E43-BE6B-F27BF01C5E75}"/>
              </a:ext>
            </a:extLst>
          </p:cNvPr>
          <p:cNvSpPr txBox="1"/>
          <p:nvPr/>
        </p:nvSpPr>
        <p:spPr>
          <a:xfrm>
            <a:off x="6273800" y="2159000"/>
            <a:ext cx="228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KQL queries compute metrics on windows of 5min, 1h, 1d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FE0B3AB4-FA1D-1244-855A-CC06C595959C}"/>
              </a:ext>
            </a:extLst>
          </p:cNvPr>
          <p:cNvSpPr/>
          <p:nvPr/>
        </p:nvSpPr>
        <p:spPr>
          <a:xfrm>
            <a:off x="8737600" y="2006600"/>
            <a:ext cx="127000" cy="177800"/>
          </a:xfrm>
          <a:prstGeom prst="rightArrow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6925183-DDCE-9245-80AB-E792B7D954B7}"/>
              </a:ext>
            </a:extLst>
          </p:cNvPr>
          <p:cNvSpPr/>
          <p:nvPr/>
        </p:nvSpPr>
        <p:spPr>
          <a:xfrm>
            <a:off x="8915400" y="1016000"/>
            <a:ext cx="2540000" cy="2159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EB93AD-DE06-FD4C-9431-10D0F930EBC7}"/>
              </a:ext>
            </a:extLst>
          </p:cNvPr>
          <p:cNvSpPr/>
          <p:nvPr/>
        </p:nvSpPr>
        <p:spPr>
          <a:xfrm>
            <a:off x="8915400" y="1016000"/>
            <a:ext cx="2540000" cy="50800"/>
          </a:xfrm>
          <a:prstGeom prst="rect">
            <a:avLst/>
          </a:prstGeom>
          <a:solidFill>
            <a:srgbClr val="DC262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738BF35-95ED-BA49-ADF9-D6DF80E7CFD4}"/>
              </a:ext>
            </a:extLst>
          </p:cNvPr>
          <p:cNvSpPr/>
          <p:nvPr/>
        </p:nvSpPr>
        <p:spPr>
          <a:xfrm>
            <a:off x="9931400" y="1219200"/>
            <a:ext cx="508000" cy="508000"/>
          </a:xfrm>
          <a:prstGeom prst="ellipse">
            <a:avLst/>
          </a:prstGeom>
          <a:solidFill>
            <a:srgbClr val="DC262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Poppins"/>
                <a:cs typeface="Poppins"/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AEEF89-D584-274A-802C-F43128FDC7DB}"/>
              </a:ext>
            </a:extLst>
          </p:cNvPr>
          <p:cNvSpPr txBox="1"/>
          <p:nvPr/>
        </p:nvSpPr>
        <p:spPr>
          <a:xfrm>
            <a:off x="9042400" y="18034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E293B"/>
                </a:solidFill>
                <a:latin typeface="Poppins"/>
                <a:cs typeface="Poppins"/>
              </a:rPr>
              <a:t>Alerting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1B9068-9E6A-3745-923A-3C24049E288F}"/>
              </a:ext>
            </a:extLst>
          </p:cNvPr>
          <p:cNvSpPr txBox="1"/>
          <p:nvPr/>
        </p:nvSpPr>
        <p:spPr>
          <a:xfrm>
            <a:off x="9042400" y="2159000"/>
            <a:ext cx="228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Threshold breaches trigger notifications to the team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335D63-59E2-8C42-8410-1029A7216BB8}"/>
              </a:ext>
            </a:extLst>
          </p:cNvPr>
          <p:cNvSpPr txBox="1"/>
          <p:nvPr/>
        </p:nvSpPr>
        <p:spPr>
          <a:xfrm>
            <a:off x="609600" y="34544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E293B"/>
                </a:solidFill>
                <a:latin typeface="Poppins"/>
                <a:cs typeface="Poppins"/>
              </a:rPr>
              <a:t>Telemetry Data Points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7462EF7-537F-A346-9E92-89DFD9FF86FA}"/>
              </a:ext>
            </a:extLst>
          </p:cNvPr>
          <p:cNvSpPr/>
          <p:nvPr/>
        </p:nvSpPr>
        <p:spPr>
          <a:xfrm>
            <a:off x="609600" y="3886200"/>
            <a:ext cx="3556000" cy="2667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BF3935-6F0D-C748-8A64-90D6E2EBBB09}"/>
              </a:ext>
            </a:extLst>
          </p:cNvPr>
          <p:cNvSpPr/>
          <p:nvPr/>
        </p:nvSpPr>
        <p:spPr>
          <a:xfrm>
            <a:off x="609600" y="3886200"/>
            <a:ext cx="3556000" cy="50800"/>
          </a:xfrm>
          <a:prstGeom prst="rect">
            <a:avLst/>
          </a:prstGeom>
          <a:solidFill>
            <a:srgbClr val="1E40A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BBD8FDF-D64E-994C-B86C-B7DA762276B5}"/>
              </a:ext>
            </a:extLst>
          </p:cNvPr>
          <p:cNvSpPr/>
          <p:nvPr/>
        </p:nvSpPr>
        <p:spPr>
          <a:xfrm>
            <a:off x="812800" y="4140200"/>
            <a:ext cx="457200" cy="457200"/>
          </a:xfrm>
          <a:prstGeom prst="ellipse">
            <a:avLst/>
          </a:prstGeom>
          <a:solidFill>
            <a:srgbClr val="1E40A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273CE4-EA5B-4445-B7DD-42B3F3D5C3B2}"/>
              </a:ext>
            </a:extLst>
          </p:cNvPr>
          <p:cNvSpPr txBox="1"/>
          <p:nvPr/>
        </p:nvSpPr>
        <p:spPr>
          <a:xfrm>
            <a:off x="1397000" y="4191000"/>
            <a:ext cx="2565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E293B"/>
                </a:solidFill>
                <a:latin typeface="Poppins"/>
                <a:cs typeface="Poppins"/>
              </a:rPr>
              <a:t>Log Raw Input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8A11D8-8D56-EC47-B25D-2067F071EE1B}"/>
              </a:ext>
            </a:extLst>
          </p:cNvPr>
          <p:cNvSpPr txBox="1"/>
          <p:nvPr/>
        </p:nvSpPr>
        <p:spPr>
          <a:xfrm>
            <a:off x="812800" y="4775200"/>
            <a:ext cx="3149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User messages captured verbatim for pattern analysis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5284361-23A0-AB42-901C-F28A79DDC619}"/>
              </a:ext>
            </a:extLst>
          </p:cNvPr>
          <p:cNvSpPr/>
          <p:nvPr/>
        </p:nvSpPr>
        <p:spPr>
          <a:xfrm>
            <a:off x="4394200" y="3886200"/>
            <a:ext cx="3556000" cy="2667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4A1D3D-A807-C94F-B9C0-39FF521DC95D}"/>
              </a:ext>
            </a:extLst>
          </p:cNvPr>
          <p:cNvSpPr/>
          <p:nvPr/>
        </p:nvSpPr>
        <p:spPr>
          <a:xfrm>
            <a:off x="4394200" y="3886200"/>
            <a:ext cx="3556000" cy="508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99237F-0F17-6847-ADAE-ED73A511C08C}"/>
              </a:ext>
            </a:extLst>
          </p:cNvPr>
          <p:cNvSpPr/>
          <p:nvPr/>
        </p:nvSpPr>
        <p:spPr>
          <a:xfrm>
            <a:off x="4597400" y="4140200"/>
            <a:ext cx="457200" cy="457200"/>
          </a:xfrm>
          <a:prstGeom prst="ellipse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E0997C-4E0A-8843-B3BF-EB7F50B72A85}"/>
              </a:ext>
            </a:extLst>
          </p:cNvPr>
          <p:cNvSpPr txBox="1"/>
          <p:nvPr/>
        </p:nvSpPr>
        <p:spPr>
          <a:xfrm>
            <a:off x="5181600" y="4191000"/>
            <a:ext cx="2565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E293B"/>
                </a:solidFill>
                <a:latin typeface="Poppins"/>
                <a:cs typeface="Poppins"/>
              </a:rPr>
              <a:t>Log Intent &amp; Entities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CBAC99-C8F5-6949-8FBE-9A64DB03F0A0}"/>
              </a:ext>
            </a:extLst>
          </p:cNvPr>
          <p:cNvSpPr txBox="1"/>
          <p:nvPr/>
        </p:nvSpPr>
        <p:spPr>
          <a:xfrm>
            <a:off x="4597400" y="4775200"/>
            <a:ext cx="3149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LUIS/CLU predictions with confidence scores recorded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9104C76-AEEA-A040-932C-BBFB5365CA63}"/>
              </a:ext>
            </a:extLst>
          </p:cNvPr>
          <p:cNvSpPr/>
          <p:nvPr/>
        </p:nvSpPr>
        <p:spPr>
          <a:xfrm>
            <a:off x="8178800" y="3886200"/>
            <a:ext cx="3556000" cy="2667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FC50EF3-682F-CA49-B2E0-8AF72089C7FF}"/>
              </a:ext>
            </a:extLst>
          </p:cNvPr>
          <p:cNvSpPr/>
          <p:nvPr/>
        </p:nvSpPr>
        <p:spPr>
          <a:xfrm>
            <a:off x="8178800" y="3886200"/>
            <a:ext cx="3556000" cy="50800"/>
          </a:xfrm>
          <a:prstGeom prst="rect">
            <a:avLst/>
          </a:prstGeom>
          <a:solidFill>
            <a:srgbClr val="0EA5E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325D1F4-3B24-2148-B59F-0159A20FAF64}"/>
              </a:ext>
            </a:extLst>
          </p:cNvPr>
          <p:cNvSpPr/>
          <p:nvPr/>
        </p:nvSpPr>
        <p:spPr>
          <a:xfrm>
            <a:off x="8382000" y="4140200"/>
            <a:ext cx="457200" cy="457200"/>
          </a:xfrm>
          <a:prstGeom prst="ellipse">
            <a:avLst/>
          </a:prstGeom>
          <a:solidFill>
            <a:srgbClr val="0EA5E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B4A705-365E-9847-80F8-781FA076F6D6}"/>
              </a:ext>
            </a:extLst>
          </p:cNvPr>
          <p:cNvSpPr txBox="1"/>
          <p:nvPr/>
        </p:nvSpPr>
        <p:spPr>
          <a:xfrm>
            <a:off x="8966200" y="4191000"/>
            <a:ext cx="2565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E293B"/>
                </a:solidFill>
                <a:latin typeface="Poppins"/>
                <a:cs typeface="Poppins"/>
              </a:rPr>
              <a:t>Log Bot Response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555F71-A6D5-7441-A2BC-1D800253F1E0}"/>
              </a:ext>
            </a:extLst>
          </p:cNvPr>
          <p:cNvSpPr txBox="1"/>
          <p:nvPr/>
        </p:nvSpPr>
        <p:spPr>
          <a:xfrm>
            <a:off x="8382000" y="4775200"/>
            <a:ext cx="3149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Bot responses tracked for quality monitoring</a:t>
            </a:r>
          </a:p>
        </p:txBody>
      </p:sp>
    </p:spTree>
    <p:extLst>
      <p:ext uri="{BB962C8B-B14F-4D97-AF65-F5344CB8AC3E}">
        <p14:creationId xmlns:p14="http://schemas.microsoft.com/office/powerpoint/2010/main" val="3050358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8B4E06-4D20-4F46-9269-91AD05B89AD9}"/>
              </a:ext>
            </a:extLst>
          </p:cNvPr>
          <p:cNvSpPr/>
          <p:nvPr/>
        </p:nvSpPr>
        <p:spPr>
          <a:xfrm>
            <a:off x="0" y="0"/>
            <a:ext cx="4876800" cy="38100"/>
          </a:xfrm>
          <a:prstGeom prst="rect">
            <a:avLst/>
          </a:prstGeom>
          <a:solidFill>
            <a:srgbClr val="1E40A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C14809-F1E4-F84E-A701-3EC1B623011E}"/>
              </a:ext>
            </a:extLst>
          </p:cNvPr>
          <p:cNvSpPr/>
          <p:nvPr/>
        </p:nvSpPr>
        <p:spPr>
          <a:xfrm>
            <a:off x="7924800" y="6819900"/>
            <a:ext cx="4267200" cy="381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8B9D45-1B60-CA4D-97EB-B6D52C39E8C9}"/>
              </a:ext>
            </a:extLst>
          </p:cNvPr>
          <p:cNvSpPr txBox="1"/>
          <p:nvPr/>
        </p:nvSpPr>
        <p:spPr>
          <a:xfrm>
            <a:off x="457200" y="304800"/>
            <a:ext cx="698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E40AF"/>
                </a:solidFill>
                <a:latin typeface="Poppins"/>
                <a:cs typeface="Poppins"/>
              </a:rPr>
              <a:t>Model Retraining Triggers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770008-49EA-6B4B-AF17-A86EDC6126F6}"/>
              </a:ext>
            </a:extLst>
          </p:cNvPr>
          <p:cNvSpPr txBox="1"/>
          <p:nvPr/>
        </p:nvSpPr>
        <p:spPr>
          <a:xfrm>
            <a:off x="457200" y="812800"/>
            <a:ext cx="698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Conditions that initiate model retraining workflows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624F727-4E43-504C-90EE-9E37397FA51E}"/>
              </a:ext>
            </a:extLst>
          </p:cNvPr>
          <p:cNvSpPr/>
          <p:nvPr/>
        </p:nvSpPr>
        <p:spPr>
          <a:xfrm>
            <a:off x="457200" y="1270000"/>
            <a:ext cx="11277600" cy="9652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3BDB63-F3B0-B241-AE1B-7B461E6FCD13}"/>
              </a:ext>
            </a:extLst>
          </p:cNvPr>
          <p:cNvSpPr/>
          <p:nvPr/>
        </p:nvSpPr>
        <p:spPr>
          <a:xfrm>
            <a:off x="457200" y="1270000"/>
            <a:ext cx="50800" cy="965200"/>
          </a:xfrm>
          <a:prstGeom prst="rect">
            <a:avLst/>
          </a:prstGeom>
          <a:solidFill>
            <a:srgbClr val="DC262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FBD7B67-BBA6-974F-AFDD-ACB7B09B3ED1}"/>
              </a:ext>
            </a:extLst>
          </p:cNvPr>
          <p:cNvSpPr/>
          <p:nvPr/>
        </p:nvSpPr>
        <p:spPr>
          <a:xfrm>
            <a:off x="711200" y="1422400"/>
            <a:ext cx="1016000" cy="254000"/>
          </a:xfrm>
          <a:prstGeom prst="roundRect">
            <a:avLst/>
          </a:prstGeom>
          <a:solidFill>
            <a:srgbClr val="DC262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Poppins"/>
                <a:cs typeface="Poppins"/>
              </a:rPr>
              <a:t>CRITICAL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55C491-BC05-ED40-8DC6-6C98E2F49585}"/>
              </a:ext>
            </a:extLst>
          </p:cNvPr>
          <p:cNvSpPr txBox="1"/>
          <p:nvPr/>
        </p:nvSpPr>
        <p:spPr>
          <a:xfrm>
            <a:off x="1879600" y="1397000"/>
            <a:ext cx="304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E293B"/>
                </a:solidFill>
                <a:latin typeface="Poppins"/>
                <a:cs typeface="Poppins"/>
              </a:rPr>
              <a:t>Performance Drop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B051C-62A3-AE40-8BBC-F05919C92B12}"/>
              </a:ext>
            </a:extLst>
          </p:cNvPr>
          <p:cNvSpPr txBox="1"/>
          <p:nvPr/>
        </p:nvSpPr>
        <p:spPr>
          <a:xfrm>
            <a:off x="1879600" y="1727200"/>
            <a:ext cx="533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F1 Score drops below 0.80 for any intent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6F4406-A15D-D64C-A521-9739F1F9411A}"/>
              </a:ext>
            </a:extLst>
          </p:cNvPr>
          <p:cNvSpPr txBox="1"/>
          <p:nvPr/>
        </p:nvSpPr>
        <p:spPr>
          <a:xfrm>
            <a:off x="8128000" y="1524000"/>
            <a:ext cx="330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40AF"/>
                </a:solidFill>
                <a:latin typeface="Poppins"/>
                <a:cs typeface="Poppins"/>
              </a:rPr>
              <a:t>→  Schedule retraining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DA1E103-A527-C54E-BD18-A685DEF4BB0F}"/>
              </a:ext>
            </a:extLst>
          </p:cNvPr>
          <p:cNvSpPr/>
          <p:nvPr/>
        </p:nvSpPr>
        <p:spPr>
          <a:xfrm>
            <a:off x="457200" y="2311400"/>
            <a:ext cx="11277600" cy="9652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371183-614B-C24A-86A9-D6D8AF8DB3E4}"/>
              </a:ext>
            </a:extLst>
          </p:cNvPr>
          <p:cNvSpPr/>
          <p:nvPr/>
        </p:nvSpPr>
        <p:spPr>
          <a:xfrm>
            <a:off x="457200" y="2311400"/>
            <a:ext cx="50800" cy="965200"/>
          </a:xfrm>
          <a:prstGeom prst="rect">
            <a:avLst/>
          </a:prstGeom>
          <a:solidFill>
            <a:srgbClr val="DC262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324816E-E453-A540-8850-768975F55060}"/>
              </a:ext>
            </a:extLst>
          </p:cNvPr>
          <p:cNvSpPr/>
          <p:nvPr/>
        </p:nvSpPr>
        <p:spPr>
          <a:xfrm>
            <a:off x="711200" y="2463800"/>
            <a:ext cx="1016000" cy="254000"/>
          </a:xfrm>
          <a:prstGeom prst="roundRect">
            <a:avLst/>
          </a:prstGeom>
          <a:solidFill>
            <a:srgbClr val="DC262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Poppins"/>
                <a:cs typeface="Poppins"/>
              </a:rPr>
              <a:t>CRITICAL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4A0C27-299F-BF4A-8887-82BC2D203155}"/>
              </a:ext>
            </a:extLst>
          </p:cNvPr>
          <p:cNvSpPr txBox="1"/>
          <p:nvPr/>
        </p:nvSpPr>
        <p:spPr>
          <a:xfrm>
            <a:off x="1879600" y="2438400"/>
            <a:ext cx="304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E293B"/>
                </a:solidFill>
                <a:latin typeface="Poppins"/>
                <a:cs typeface="Poppins"/>
              </a:rPr>
              <a:t>Comprehension Rate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17A379-DD2F-E242-85A4-CECD4C5AEC52}"/>
              </a:ext>
            </a:extLst>
          </p:cNvPr>
          <p:cNvSpPr txBox="1"/>
          <p:nvPr/>
        </p:nvSpPr>
        <p:spPr>
          <a:xfrm>
            <a:off x="1879600" y="2768600"/>
            <a:ext cx="533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Falls below 80% over 24h window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02F893-7BC2-6A49-AC17-BFF6C45F2417}"/>
              </a:ext>
            </a:extLst>
          </p:cNvPr>
          <p:cNvSpPr txBox="1"/>
          <p:nvPr/>
        </p:nvSpPr>
        <p:spPr>
          <a:xfrm>
            <a:off x="8128000" y="2565400"/>
            <a:ext cx="330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40AF"/>
                </a:solidFill>
                <a:latin typeface="Poppins"/>
                <a:cs typeface="Poppins"/>
              </a:rPr>
              <a:t>→  Investigate + retrain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DC0B867-32B2-9C46-9A13-F294E2A3C81D}"/>
              </a:ext>
            </a:extLst>
          </p:cNvPr>
          <p:cNvSpPr/>
          <p:nvPr/>
        </p:nvSpPr>
        <p:spPr>
          <a:xfrm>
            <a:off x="457200" y="3352800"/>
            <a:ext cx="11277600" cy="9652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61A8BD-68CA-2D4B-9524-6DE1ED610FE0}"/>
              </a:ext>
            </a:extLst>
          </p:cNvPr>
          <p:cNvSpPr/>
          <p:nvPr/>
        </p:nvSpPr>
        <p:spPr>
          <a:xfrm>
            <a:off x="457200" y="3352800"/>
            <a:ext cx="50800" cy="965200"/>
          </a:xfrm>
          <a:prstGeom prst="rect">
            <a:avLst/>
          </a:prstGeom>
          <a:solidFill>
            <a:srgbClr val="F59E0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F485ABF-7ED6-EC48-B55A-E676B2D7E1F7}"/>
              </a:ext>
            </a:extLst>
          </p:cNvPr>
          <p:cNvSpPr/>
          <p:nvPr/>
        </p:nvSpPr>
        <p:spPr>
          <a:xfrm>
            <a:off x="711200" y="3505200"/>
            <a:ext cx="1016000" cy="254000"/>
          </a:xfrm>
          <a:prstGeom prst="roundRect">
            <a:avLst/>
          </a:prstGeom>
          <a:solidFill>
            <a:srgbClr val="F59E0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Poppins"/>
                <a:cs typeface="Poppins"/>
              </a:rPr>
              <a:t>WARNING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33FC91-3E57-5341-BE36-751A4E055050}"/>
              </a:ext>
            </a:extLst>
          </p:cNvPr>
          <p:cNvSpPr txBox="1"/>
          <p:nvPr/>
        </p:nvSpPr>
        <p:spPr>
          <a:xfrm>
            <a:off x="1879600" y="3479800"/>
            <a:ext cx="304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E293B"/>
                </a:solidFill>
                <a:latin typeface="Poppins"/>
                <a:cs typeface="Poppins"/>
              </a:rPr>
              <a:t>New Patterns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C49F85-983A-0D49-8FDA-142E7C8E55E2}"/>
              </a:ext>
            </a:extLst>
          </p:cNvPr>
          <p:cNvSpPr txBox="1"/>
          <p:nvPr/>
        </p:nvSpPr>
        <p:spPr>
          <a:xfrm>
            <a:off x="1879600" y="3810000"/>
            <a:ext cx="533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Users express new intents consistently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9FE8EF-DFA7-014B-B382-437F9C4E9ED7}"/>
              </a:ext>
            </a:extLst>
          </p:cNvPr>
          <p:cNvSpPr txBox="1"/>
          <p:nvPr/>
        </p:nvSpPr>
        <p:spPr>
          <a:xfrm>
            <a:off x="8128000" y="3606800"/>
            <a:ext cx="330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40AF"/>
                </a:solidFill>
                <a:latin typeface="Poppins"/>
                <a:cs typeface="Poppins"/>
              </a:rPr>
              <a:t>→  Add intents + retrain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ECDBE84-8974-AF43-96E5-1C5AB6B266B8}"/>
              </a:ext>
            </a:extLst>
          </p:cNvPr>
          <p:cNvSpPr/>
          <p:nvPr/>
        </p:nvSpPr>
        <p:spPr>
          <a:xfrm>
            <a:off x="457200" y="4394200"/>
            <a:ext cx="11277600" cy="9652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1950D1-88E7-9A4B-8DC1-92FCCCDF283B}"/>
              </a:ext>
            </a:extLst>
          </p:cNvPr>
          <p:cNvSpPr/>
          <p:nvPr/>
        </p:nvSpPr>
        <p:spPr>
          <a:xfrm>
            <a:off x="457200" y="4394200"/>
            <a:ext cx="50800" cy="965200"/>
          </a:xfrm>
          <a:prstGeom prst="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09F5F64-FA3F-824F-AF4C-29B40997E5D4}"/>
              </a:ext>
            </a:extLst>
          </p:cNvPr>
          <p:cNvSpPr/>
          <p:nvPr/>
        </p:nvSpPr>
        <p:spPr>
          <a:xfrm>
            <a:off x="711200" y="4546600"/>
            <a:ext cx="1016000" cy="2540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Poppins"/>
                <a:cs typeface="Poppins"/>
              </a:rPr>
              <a:t>ROUTINE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6DAB78-27ED-C443-A32E-AAC184ADC9FF}"/>
              </a:ext>
            </a:extLst>
          </p:cNvPr>
          <p:cNvSpPr txBox="1"/>
          <p:nvPr/>
        </p:nvSpPr>
        <p:spPr>
          <a:xfrm>
            <a:off x="1879600" y="4521200"/>
            <a:ext cx="304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E293B"/>
                </a:solidFill>
                <a:latin typeface="Poppins"/>
                <a:cs typeface="Poppins"/>
              </a:rPr>
              <a:t>Scheduled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BDC13D-1389-0B4D-9B03-1D1344B8F80D}"/>
              </a:ext>
            </a:extLst>
          </p:cNvPr>
          <p:cNvSpPr txBox="1"/>
          <p:nvPr/>
        </p:nvSpPr>
        <p:spPr>
          <a:xfrm>
            <a:off x="1879600" y="4851400"/>
            <a:ext cx="533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Every 2 weeks — routine evaluation cycle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BB16E1-1D10-6444-8491-8F074DD46D0E}"/>
              </a:ext>
            </a:extLst>
          </p:cNvPr>
          <p:cNvSpPr txBox="1"/>
          <p:nvPr/>
        </p:nvSpPr>
        <p:spPr>
          <a:xfrm>
            <a:off x="8128000" y="4648200"/>
            <a:ext cx="330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40AF"/>
                </a:solidFill>
                <a:latin typeface="Poppins"/>
                <a:cs typeface="Poppins"/>
              </a:rPr>
              <a:t>→  Evaluate; retrain if needed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EAC3A5A-372D-E949-9382-FF8F07ABB685}"/>
              </a:ext>
            </a:extLst>
          </p:cNvPr>
          <p:cNvSpPr/>
          <p:nvPr/>
        </p:nvSpPr>
        <p:spPr>
          <a:xfrm>
            <a:off x="457200" y="5435600"/>
            <a:ext cx="11277600" cy="9652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E2BAD1-CE9E-9241-9234-741BC46FD586}"/>
              </a:ext>
            </a:extLst>
          </p:cNvPr>
          <p:cNvSpPr/>
          <p:nvPr/>
        </p:nvSpPr>
        <p:spPr>
          <a:xfrm>
            <a:off x="457200" y="5435600"/>
            <a:ext cx="50800" cy="965200"/>
          </a:xfrm>
          <a:prstGeom prst="rect">
            <a:avLst/>
          </a:prstGeom>
          <a:solidFill>
            <a:srgbClr val="DC262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215F2F2-5B5F-0B44-AEAF-667FF9A8C37F}"/>
              </a:ext>
            </a:extLst>
          </p:cNvPr>
          <p:cNvSpPr/>
          <p:nvPr/>
        </p:nvSpPr>
        <p:spPr>
          <a:xfrm>
            <a:off x="711200" y="5588000"/>
            <a:ext cx="1016000" cy="254000"/>
          </a:xfrm>
          <a:prstGeom prst="roundRect">
            <a:avLst/>
          </a:prstGeom>
          <a:solidFill>
            <a:srgbClr val="DC262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Poppins"/>
                <a:cs typeface="Poppins"/>
              </a:rPr>
              <a:t>CRITICAL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B3B065-4D5F-F24B-8B0F-F80139485619}"/>
              </a:ext>
            </a:extLst>
          </p:cNvPr>
          <p:cNvSpPr txBox="1"/>
          <p:nvPr/>
        </p:nvSpPr>
        <p:spPr>
          <a:xfrm>
            <a:off x="1879600" y="5562600"/>
            <a:ext cx="304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E293B"/>
                </a:solidFill>
                <a:latin typeface="Poppins"/>
                <a:cs typeface="Poppins"/>
              </a:rPr>
              <a:t>Alert Burst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7F997D-BD39-7748-8437-38D179E2E2E4}"/>
              </a:ext>
            </a:extLst>
          </p:cNvPr>
          <p:cNvSpPr txBox="1"/>
          <p:nvPr/>
        </p:nvSpPr>
        <p:spPr>
          <a:xfrm>
            <a:off x="1879600" y="5892800"/>
            <a:ext cx="533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3+ comprehension failures in 5 minutes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2039F3-DC42-AB43-BFF5-1396DB5A9EC1}"/>
              </a:ext>
            </a:extLst>
          </p:cNvPr>
          <p:cNvSpPr txBox="1"/>
          <p:nvPr/>
        </p:nvSpPr>
        <p:spPr>
          <a:xfrm>
            <a:off x="8128000" y="5689600"/>
            <a:ext cx="330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40AF"/>
                </a:solidFill>
                <a:latin typeface="Poppins"/>
                <a:cs typeface="Poppins"/>
              </a:rPr>
              <a:t>→  Review labeled data</a:t>
            </a:r>
          </a:p>
        </p:txBody>
      </p:sp>
    </p:spTree>
    <p:extLst>
      <p:ext uri="{BB962C8B-B14F-4D97-AF65-F5344CB8AC3E}">
        <p14:creationId xmlns:p14="http://schemas.microsoft.com/office/powerpoint/2010/main" val="1230696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734C15-2FED-2E43-B665-5E56B77EE3BE}"/>
              </a:ext>
            </a:extLst>
          </p:cNvPr>
          <p:cNvSpPr/>
          <p:nvPr/>
        </p:nvSpPr>
        <p:spPr>
          <a:xfrm>
            <a:off x="0" y="0"/>
            <a:ext cx="4876800" cy="38100"/>
          </a:xfrm>
          <a:prstGeom prst="rect">
            <a:avLst/>
          </a:prstGeom>
          <a:solidFill>
            <a:srgbClr val="1E40A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944B91-18B8-7547-ABA7-7CD8BF9504EA}"/>
              </a:ext>
            </a:extLst>
          </p:cNvPr>
          <p:cNvSpPr/>
          <p:nvPr/>
        </p:nvSpPr>
        <p:spPr>
          <a:xfrm>
            <a:off x="7924800" y="6819900"/>
            <a:ext cx="4267200" cy="381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3C306-5E9E-4C43-B4A3-8B67AE59C83D}"/>
              </a:ext>
            </a:extLst>
          </p:cNvPr>
          <p:cNvSpPr txBox="1"/>
          <p:nvPr/>
        </p:nvSpPr>
        <p:spPr>
          <a:xfrm>
            <a:off x="457200" y="304800"/>
            <a:ext cx="698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E40AF"/>
                </a:solidFill>
                <a:latin typeface="Poppins"/>
                <a:cs typeface="Poppins"/>
              </a:rPr>
              <a:t>Model Retraining Process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1B8000-7F92-F245-97DD-0B306EE8B606}"/>
              </a:ext>
            </a:extLst>
          </p:cNvPr>
          <p:cNvSpPr txBox="1"/>
          <p:nvPr/>
        </p:nvSpPr>
        <p:spPr>
          <a:xfrm>
            <a:off x="457200" y="8128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6-step workflow from data collection to post-deployment monitoring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0A79F0-31C5-DE43-AF24-E9AAB6FE0C1E}"/>
              </a:ext>
            </a:extLst>
          </p:cNvPr>
          <p:cNvSpPr/>
          <p:nvPr/>
        </p:nvSpPr>
        <p:spPr>
          <a:xfrm>
            <a:off x="609600" y="1219200"/>
            <a:ext cx="3556000" cy="2413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40B38F-0337-4F4B-BDE9-D60819D805A2}"/>
              </a:ext>
            </a:extLst>
          </p:cNvPr>
          <p:cNvSpPr/>
          <p:nvPr/>
        </p:nvSpPr>
        <p:spPr>
          <a:xfrm>
            <a:off x="609600" y="1219200"/>
            <a:ext cx="3556000" cy="50800"/>
          </a:xfrm>
          <a:prstGeom prst="rect">
            <a:avLst/>
          </a:prstGeom>
          <a:solidFill>
            <a:srgbClr val="1E40A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7DBF60D-0692-FF4A-A585-AE00E66735B4}"/>
              </a:ext>
            </a:extLst>
          </p:cNvPr>
          <p:cNvSpPr/>
          <p:nvPr/>
        </p:nvSpPr>
        <p:spPr>
          <a:xfrm>
            <a:off x="787400" y="1422400"/>
            <a:ext cx="406400" cy="406400"/>
          </a:xfrm>
          <a:prstGeom prst="ellipse">
            <a:avLst/>
          </a:prstGeom>
          <a:solidFill>
            <a:srgbClr val="1E40A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Poppins"/>
                <a:cs typeface="Poppins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917AE4-BB88-5D4B-94B1-5255F0B166D2}"/>
              </a:ext>
            </a:extLst>
          </p:cNvPr>
          <p:cNvSpPr txBox="1"/>
          <p:nvPr/>
        </p:nvSpPr>
        <p:spPr>
          <a:xfrm>
            <a:off x="1295400" y="1447800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E293B"/>
                </a:solidFill>
                <a:latin typeface="Poppins"/>
                <a:cs typeface="Poppins"/>
              </a:rPr>
              <a:t>Data Collection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D949BF-F0AF-5447-999D-90769EC4D5B2}"/>
              </a:ext>
            </a:extLst>
          </p:cNvPr>
          <p:cNvSpPr txBox="1"/>
          <p:nvPr/>
        </p:nvSpPr>
        <p:spPr>
          <a:xfrm>
            <a:off x="812800" y="1930400"/>
            <a:ext cx="3149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Export 2 weeks of logs
Filter low-confidence predictions
Sample successful interactions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32D798FA-23CE-8244-8B89-820FD63BCAA7}"/>
              </a:ext>
            </a:extLst>
          </p:cNvPr>
          <p:cNvSpPr/>
          <p:nvPr/>
        </p:nvSpPr>
        <p:spPr>
          <a:xfrm>
            <a:off x="4229100" y="2336800"/>
            <a:ext cx="101600" cy="177800"/>
          </a:xfrm>
          <a:prstGeom prst="rightArrow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545E73B-BF1D-D147-A196-3958DE8BFEC1}"/>
              </a:ext>
            </a:extLst>
          </p:cNvPr>
          <p:cNvSpPr/>
          <p:nvPr/>
        </p:nvSpPr>
        <p:spPr>
          <a:xfrm>
            <a:off x="4394200" y="1219200"/>
            <a:ext cx="3556000" cy="2413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5A297B-3C4A-5643-9047-594713EDD90E}"/>
              </a:ext>
            </a:extLst>
          </p:cNvPr>
          <p:cNvSpPr/>
          <p:nvPr/>
        </p:nvSpPr>
        <p:spPr>
          <a:xfrm>
            <a:off x="4394200" y="1219200"/>
            <a:ext cx="3556000" cy="508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2537279-2CB0-5D43-82C0-C164820D0FD2}"/>
              </a:ext>
            </a:extLst>
          </p:cNvPr>
          <p:cNvSpPr/>
          <p:nvPr/>
        </p:nvSpPr>
        <p:spPr>
          <a:xfrm>
            <a:off x="4572000" y="1422400"/>
            <a:ext cx="406400" cy="406400"/>
          </a:xfrm>
          <a:prstGeom prst="ellipse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Poppins"/>
                <a:cs typeface="Poppins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D2616A-FF08-2A4A-8242-F27C35D4D2A3}"/>
              </a:ext>
            </a:extLst>
          </p:cNvPr>
          <p:cNvSpPr txBox="1"/>
          <p:nvPr/>
        </p:nvSpPr>
        <p:spPr>
          <a:xfrm>
            <a:off x="5080000" y="1447800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E293B"/>
                </a:solidFill>
                <a:latin typeface="Poppins"/>
                <a:cs typeface="Poppins"/>
              </a:rPr>
              <a:t>Data Labeling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F456FD-C372-854F-8C5F-504AB2E4A551}"/>
              </a:ext>
            </a:extLst>
          </p:cNvPr>
          <p:cNvSpPr txBox="1"/>
          <p:nvPr/>
        </p:nvSpPr>
        <p:spPr>
          <a:xfrm>
            <a:off x="4597400" y="1930400"/>
            <a:ext cx="3149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Review failed utterances
Correct intent labels
Add entity annotations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EC671729-30ED-9443-A4D2-6E4626F6B3D7}"/>
              </a:ext>
            </a:extLst>
          </p:cNvPr>
          <p:cNvSpPr/>
          <p:nvPr/>
        </p:nvSpPr>
        <p:spPr>
          <a:xfrm>
            <a:off x="8013700" y="2336800"/>
            <a:ext cx="101600" cy="177800"/>
          </a:xfrm>
          <a:prstGeom prst="rightArrow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D1321C5-F549-354C-97FB-A5AB311B4109}"/>
              </a:ext>
            </a:extLst>
          </p:cNvPr>
          <p:cNvSpPr/>
          <p:nvPr/>
        </p:nvSpPr>
        <p:spPr>
          <a:xfrm>
            <a:off x="8178800" y="1219200"/>
            <a:ext cx="3556000" cy="2413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1508F6-31AC-3A4D-A67C-4AB4B54C1EC5}"/>
              </a:ext>
            </a:extLst>
          </p:cNvPr>
          <p:cNvSpPr/>
          <p:nvPr/>
        </p:nvSpPr>
        <p:spPr>
          <a:xfrm>
            <a:off x="8178800" y="1219200"/>
            <a:ext cx="3556000" cy="50800"/>
          </a:xfrm>
          <a:prstGeom prst="rect">
            <a:avLst/>
          </a:prstGeom>
          <a:solidFill>
            <a:srgbClr val="0EA5E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770F2ED-D91A-444E-93F7-0C73C21E128B}"/>
              </a:ext>
            </a:extLst>
          </p:cNvPr>
          <p:cNvSpPr/>
          <p:nvPr/>
        </p:nvSpPr>
        <p:spPr>
          <a:xfrm>
            <a:off x="8356600" y="1422400"/>
            <a:ext cx="406400" cy="406400"/>
          </a:xfrm>
          <a:prstGeom prst="ellipse">
            <a:avLst/>
          </a:prstGeom>
          <a:solidFill>
            <a:srgbClr val="0EA5E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Poppins"/>
                <a:cs typeface="Poppins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4C4716-2907-8044-950E-05705A97AD9F}"/>
              </a:ext>
            </a:extLst>
          </p:cNvPr>
          <p:cNvSpPr txBox="1"/>
          <p:nvPr/>
        </p:nvSpPr>
        <p:spPr>
          <a:xfrm>
            <a:off x="8864600" y="1447800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E293B"/>
                </a:solidFill>
                <a:latin typeface="Poppins"/>
                <a:cs typeface="Poppins"/>
              </a:rPr>
              <a:t>Model Training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25981A-1475-404F-92F6-2620B84BEC71}"/>
              </a:ext>
            </a:extLst>
          </p:cNvPr>
          <p:cNvSpPr txBox="1"/>
          <p:nvPr/>
        </p:nvSpPr>
        <p:spPr>
          <a:xfrm>
            <a:off x="8382000" y="1930400"/>
            <a:ext cx="3149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Run prepare_training_data.py
Upload to LUIS/CLU
Evaluate on held-out test set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6D970E6-AAEE-AC4B-B67D-FFA45C6FFE95}"/>
              </a:ext>
            </a:extLst>
          </p:cNvPr>
          <p:cNvSpPr/>
          <p:nvPr/>
        </p:nvSpPr>
        <p:spPr>
          <a:xfrm>
            <a:off x="609600" y="3810000"/>
            <a:ext cx="3556000" cy="2413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B35D2E-04B6-1141-84C6-6E31E7B4F4C3}"/>
              </a:ext>
            </a:extLst>
          </p:cNvPr>
          <p:cNvSpPr/>
          <p:nvPr/>
        </p:nvSpPr>
        <p:spPr>
          <a:xfrm>
            <a:off x="609600" y="3810000"/>
            <a:ext cx="3556000" cy="50800"/>
          </a:xfrm>
          <a:prstGeom prst="rect">
            <a:avLst/>
          </a:prstGeom>
          <a:solidFill>
            <a:srgbClr val="7C3AE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52BEA6-1B61-1443-845F-2419164FC40D}"/>
              </a:ext>
            </a:extLst>
          </p:cNvPr>
          <p:cNvSpPr/>
          <p:nvPr/>
        </p:nvSpPr>
        <p:spPr>
          <a:xfrm>
            <a:off x="787400" y="4013200"/>
            <a:ext cx="406400" cy="406400"/>
          </a:xfrm>
          <a:prstGeom prst="ellipse">
            <a:avLst/>
          </a:prstGeom>
          <a:solidFill>
            <a:srgbClr val="7C3AE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Poppins"/>
                <a:cs typeface="Poppins"/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EB6C72-6079-C743-AD1B-76F9A714A542}"/>
              </a:ext>
            </a:extLst>
          </p:cNvPr>
          <p:cNvSpPr txBox="1"/>
          <p:nvPr/>
        </p:nvSpPr>
        <p:spPr>
          <a:xfrm>
            <a:off x="1295400" y="4038600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E293B"/>
                </a:solidFill>
                <a:latin typeface="Poppins"/>
                <a:cs typeface="Poppins"/>
              </a:rPr>
              <a:t>Model Evaluation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1E7C90-CAF4-AE48-BA48-41334CC4DF1A}"/>
              </a:ext>
            </a:extLst>
          </p:cNvPr>
          <p:cNvSpPr txBox="1"/>
          <p:nvPr/>
        </p:nvSpPr>
        <p:spPr>
          <a:xfrm>
            <a:off x="812800" y="4521200"/>
            <a:ext cx="3149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Compare new vs. current model
F1 improved ≥ 2% → deploy
A/B test with shadow traffic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2849B1F8-2602-294B-B6B9-88366C799C5C}"/>
              </a:ext>
            </a:extLst>
          </p:cNvPr>
          <p:cNvSpPr/>
          <p:nvPr/>
        </p:nvSpPr>
        <p:spPr>
          <a:xfrm>
            <a:off x="4229100" y="4927600"/>
            <a:ext cx="101600" cy="177800"/>
          </a:xfrm>
          <a:prstGeom prst="rightArrow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C3C3C04-AF6F-134D-A48F-3A7C3F551526}"/>
              </a:ext>
            </a:extLst>
          </p:cNvPr>
          <p:cNvSpPr/>
          <p:nvPr/>
        </p:nvSpPr>
        <p:spPr>
          <a:xfrm>
            <a:off x="4394200" y="3810000"/>
            <a:ext cx="3556000" cy="2413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E340A7-50B1-DC4F-8992-D7F4FCBB5E49}"/>
              </a:ext>
            </a:extLst>
          </p:cNvPr>
          <p:cNvSpPr/>
          <p:nvPr/>
        </p:nvSpPr>
        <p:spPr>
          <a:xfrm>
            <a:off x="4394200" y="3810000"/>
            <a:ext cx="3556000" cy="50800"/>
          </a:xfrm>
          <a:prstGeom prst="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8AE6F1D-CA37-F944-8ED6-A3C294CA50D2}"/>
              </a:ext>
            </a:extLst>
          </p:cNvPr>
          <p:cNvSpPr/>
          <p:nvPr/>
        </p:nvSpPr>
        <p:spPr>
          <a:xfrm>
            <a:off x="4572000" y="4013200"/>
            <a:ext cx="406400" cy="406400"/>
          </a:xfrm>
          <a:prstGeom prst="ellipse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Poppins"/>
                <a:cs typeface="Poppins"/>
              </a:rPr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F577EE-C82F-D741-8776-B6B492A42411}"/>
              </a:ext>
            </a:extLst>
          </p:cNvPr>
          <p:cNvSpPr txBox="1"/>
          <p:nvPr/>
        </p:nvSpPr>
        <p:spPr>
          <a:xfrm>
            <a:off x="5080000" y="4038600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E293B"/>
                </a:solidFill>
                <a:latin typeface="Poppins"/>
                <a:cs typeface="Poppins"/>
              </a:rPr>
              <a:t>Deployment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DD00EE-E940-1646-B9D3-326BA70A2458}"/>
              </a:ext>
            </a:extLst>
          </p:cNvPr>
          <p:cNvSpPr txBox="1"/>
          <p:nvPr/>
        </p:nvSpPr>
        <p:spPr>
          <a:xfrm>
            <a:off x="4597400" y="4521200"/>
            <a:ext cx="3149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Publish to staging slot
Run integration tests
Swap staging → production</a:t>
            </a:r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72DD61C6-A7A7-F74F-BDF7-473F2E9E8650}"/>
              </a:ext>
            </a:extLst>
          </p:cNvPr>
          <p:cNvSpPr/>
          <p:nvPr/>
        </p:nvSpPr>
        <p:spPr>
          <a:xfrm>
            <a:off x="8013700" y="4927600"/>
            <a:ext cx="101600" cy="177800"/>
          </a:xfrm>
          <a:prstGeom prst="rightArrow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8933DFD-0195-5F4A-BC0C-B374DBA5DA96}"/>
              </a:ext>
            </a:extLst>
          </p:cNvPr>
          <p:cNvSpPr/>
          <p:nvPr/>
        </p:nvSpPr>
        <p:spPr>
          <a:xfrm>
            <a:off x="8178800" y="3810000"/>
            <a:ext cx="3556000" cy="2413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3789166-EA27-6B43-95B5-CF2A517E0CE6}"/>
              </a:ext>
            </a:extLst>
          </p:cNvPr>
          <p:cNvSpPr/>
          <p:nvPr/>
        </p:nvSpPr>
        <p:spPr>
          <a:xfrm>
            <a:off x="8178800" y="3810000"/>
            <a:ext cx="3556000" cy="50800"/>
          </a:xfrm>
          <a:prstGeom prst="rect">
            <a:avLst/>
          </a:prstGeom>
          <a:solidFill>
            <a:srgbClr val="F59E0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BBCE76A-FF93-8146-A668-EEE0EDB49EC2}"/>
              </a:ext>
            </a:extLst>
          </p:cNvPr>
          <p:cNvSpPr/>
          <p:nvPr/>
        </p:nvSpPr>
        <p:spPr>
          <a:xfrm>
            <a:off x="8356600" y="4013200"/>
            <a:ext cx="406400" cy="406400"/>
          </a:xfrm>
          <a:prstGeom prst="ellipse">
            <a:avLst/>
          </a:prstGeom>
          <a:solidFill>
            <a:srgbClr val="F59E0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Poppins"/>
                <a:cs typeface="Poppins"/>
              </a:rPr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BF3263-BACD-7044-8065-BDB7F9588290}"/>
              </a:ext>
            </a:extLst>
          </p:cNvPr>
          <p:cNvSpPr txBox="1"/>
          <p:nvPr/>
        </p:nvSpPr>
        <p:spPr>
          <a:xfrm>
            <a:off x="8864600" y="4038600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E293B"/>
                </a:solidFill>
                <a:latin typeface="Poppins"/>
                <a:cs typeface="Poppins"/>
              </a:rPr>
              <a:t>Post-Deployment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78E4D5-65C0-3C4B-A9FE-7E4868564576}"/>
              </a:ext>
            </a:extLst>
          </p:cNvPr>
          <p:cNvSpPr txBox="1"/>
          <p:nvPr/>
        </p:nvSpPr>
        <p:spPr>
          <a:xfrm>
            <a:off x="8382000" y="4521200"/>
            <a:ext cx="3149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Monitor 48h comprehension rate
Compare booking completion
Rollback if regressions</a:t>
            </a:r>
          </a:p>
        </p:txBody>
      </p:sp>
      <p:sp>
        <p:nvSpPr>
          <p:cNvPr id="40" name="Down Arrow 39">
            <a:extLst>
              <a:ext uri="{FF2B5EF4-FFF2-40B4-BE49-F238E27FC236}">
                <a16:creationId xmlns:a16="http://schemas.microsoft.com/office/drawing/2014/main" id="{60E0AB81-E871-674B-B433-02AD7EC57E0C}"/>
              </a:ext>
            </a:extLst>
          </p:cNvPr>
          <p:cNvSpPr/>
          <p:nvPr/>
        </p:nvSpPr>
        <p:spPr>
          <a:xfrm>
            <a:off x="2286000" y="3657600"/>
            <a:ext cx="177800" cy="127000"/>
          </a:xfrm>
          <a:prstGeom prst="downArrow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36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FBCB37-B25F-5B47-BEE1-A32C3AD2EBD9}"/>
              </a:ext>
            </a:extLst>
          </p:cNvPr>
          <p:cNvSpPr/>
          <p:nvPr/>
        </p:nvSpPr>
        <p:spPr>
          <a:xfrm>
            <a:off x="0" y="0"/>
            <a:ext cx="4876800" cy="38100"/>
          </a:xfrm>
          <a:prstGeom prst="rect">
            <a:avLst/>
          </a:prstGeom>
          <a:solidFill>
            <a:srgbClr val="1E40A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932FAD-AC82-4041-AECB-9DA7C62F934F}"/>
              </a:ext>
            </a:extLst>
          </p:cNvPr>
          <p:cNvSpPr/>
          <p:nvPr/>
        </p:nvSpPr>
        <p:spPr>
          <a:xfrm>
            <a:off x="7924800" y="6819900"/>
            <a:ext cx="4267200" cy="381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A72B05-D2A0-1148-805B-66BA8BA6EFE6}"/>
              </a:ext>
            </a:extLst>
          </p:cNvPr>
          <p:cNvSpPr txBox="1"/>
          <p:nvPr/>
        </p:nvSpPr>
        <p:spPr>
          <a:xfrm>
            <a:off x="457200" y="304800"/>
            <a:ext cx="762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E40AF"/>
                </a:solidFill>
                <a:latin typeface="Poppins"/>
                <a:cs typeface="Poppins"/>
              </a:rPr>
              <a:t>Continuous Improvement Loop</a:t>
            </a:r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66F3F43E-1F3E-764E-8C35-FBECB719EA43}"/>
              </a:ext>
            </a:extLst>
          </p:cNvPr>
          <p:cNvSpPr/>
          <p:nvPr/>
        </p:nvSpPr>
        <p:spPr>
          <a:xfrm>
            <a:off x="711200" y="990600"/>
            <a:ext cx="1651000" cy="558800"/>
          </a:xfrm>
          <a:prstGeom prst="homePlate">
            <a:avLst/>
          </a:prstGeom>
          <a:solidFill>
            <a:srgbClr val="1E40A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Poppins"/>
                <a:cs typeface="Poppins"/>
              </a:rPr>
              <a:t>Monitor</a:t>
            </a: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7F3E190E-A3B3-8B45-BF53-772B5BFBBC42}"/>
              </a:ext>
            </a:extLst>
          </p:cNvPr>
          <p:cNvSpPr/>
          <p:nvPr/>
        </p:nvSpPr>
        <p:spPr>
          <a:xfrm>
            <a:off x="2463800" y="990600"/>
            <a:ext cx="1651000" cy="558800"/>
          </a:xfrm>
          <a:prstGeom prst="homePlate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Poppins"/>
                <a:cs typeface="Poppins"/>
              </a:rPr>
              <a:t>Detect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1B43B0DC-CD3C-B643-B53B-5686A7A2537E}"/>
              </a:ext>
            </a:extLst>
          </p:cNvPr>
          <p:cNvSpPr/>
          <p:nvPr/>
        </p:nvSpPr>
        <p:spPr>
          <a:xfrm>
            <a:off x="4216400" y="990600"/>
            <a:ext cx="1651000" cy="558800"/>
          </a:xfrm>
          <a:prstGeom prst="homePlate">
            <a:avLst/>
          </a:prstGeom>
          <a:solidFill>
            <a:srgbClr val="0EA5E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Poppins"/>
                <a:cs typeface="Poppins"/>
              </a:rPr>
              <a:t>Analyze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857DA38B-A23F-6A49-8225-A470F55DF91E}"/>
              </a:ext>
            </a:extLst>
          </p:cNvPr>
          <p:cNvSpPr/>
          <p:nvPr/>
        </p:nvSpPr>
        <p:spPr>
          <a:xfrm>
            <a:off x="5969000" y="990600"/>
            <a:ext cx="1651000" cy="558800"/>
          </a:xfrm>
          <a:prstGeom prst="homePlate">
            <a:avLst/>
          </a:prstGeom>
          <a:solidFill>
            <a:srgbClr val="7C3AE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Poppins"/>
                <a:cs typeface="Poppins"/>
              </a:rPr>
              <a:t>Retrain</a:t>
            </a:r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50779D4C-F53E-1042-BCFE-1533B98D4832}"/>
              </a:ext>
            </a:extLst>
          </p:cNvPr>
          <p:cNvSpPr/>
          <p:nvPr/>
        </p:nvSpPr>
        <p:spPr>
          <a:xfrm>
            <a:off x="7721600" y="990600"/>
            <a:ext cx="1651000" cy="558800"/>
          </a:xfrm>
          <a:prstGeom prst="homePlate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Poppins"/>
                <a:cs typeface="Poppins"/>
              </a:rPr>
              <a:t>Evaluate</a:t>
            </a:r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15F6CFAE-6203-F145-82F2-DAA4CE95A6A2}"/>
              </a:ext>
            </a:extLst>
          </p:cNvPr>
          <p:cNvSpPr/>
          <p:nvPr/>
        </p:nvSpPr>
        <p:spPr>
          <a:xfrm>
            <a:off x="9474200" y="990600"/>
            <a:ext cx="1651000" cy="558800"/>
          </a:xfrm>
          <a:prstGeom prst="homePlate">
            <a:avLst/>
          </a:prstGeom>
          <a:solidFill>
            <a:srgbClr val="F59E0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Poppins"/>
                <a:cs typeface="Poppins"/>
              </a:rPr>
              <a:t>Deploy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2BCBE6-CD95-CF47-90C0-5CE92709A42F}"/>
              </a:ext>
            </a:extLst>
          </p:cNvPr>
          <p:cNvSpPr txBox="1"/>
          <p:nvPr/>
        </p:nvSpPr>
        <p:spPr>
          <a:xfrm>
            <a:off x="4318000" y="16002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↻ Continuous virtuous cycle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690FED-3FC2-164F-8B54-72E1FBDB8A0B}"/>
              </a:ext>
            </a:extLst>
          </p:cNvPr>
          <p:cNvSpPr txBox="1"/>
          <p:nvPr/>
        </p:nvSpPr>
        <p:spPr>
          <a:xfrm>
            <a:off x="457200" y="20574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E293B"/>
                </a:solidFill>
                <a:latin typeface="Poppins"/>
                <a:cs typeface="Poppins"/>
              </a:rPr>
              <a:t>Key Principles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C92BEA-7F13-E448-B7C4-93670EEDC69F}"/>
              </a:ext>
            </a:extLst>
          </p:cNvPr>
          <p:cNvSpPr/>
          <p:nvPr/>
        </p:nvSpPr>
        <p:spPr>
          <a:xfrm>
            <a:off x="558800" y="2552700"/>
            <a:ext cx="127000" cy="127000"/>
          </a:xfrm>
          <a:prstGeom prst="ellipse">
            <a:avLst/>
          </a:prstGeom>
          <a:solidFill>
            <a:srgbClr val="1E40A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D66811-09C6-A049-B36B-A0D13EBF12B2}"/>
              </a:ext>
            </a:extLst>
          </p:cNvPr>
          <p:cNvSpPr txBox="1"/>
          <p:nvPr/>
        </p:nvSpPr>
        <p:spPr>
          <a:xfrm>
            <a:off x="812800" y="2489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E293B"/>
                </a:solidFill>
                <a:latin typeface="Open Sans Light"/>
                <a:ea typeface="Open Sans Light"/>
                <a:cs typeface="Open Sans Light"/>
              </a:rPr>
              <a:t>Production feedback drives model improvements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A501F37-A16F-4A42-BEE1-104321A7A013}"/>
              </a:ext>
            </a:extLst>
          </p:cNvPr>
          <p:cNvSpPr/>
          <p:nvPr/>
        </p:nvSpPr>
        <p:spPr>
          <a:xfrm>
            <a:off x="558800" y="2933700"/>
            <a:ext cx="127000" cy="127000"/>
          </a:xfrm>
          <a:prstGeom prst="ellipse">
            <a:avLst/>
          </a:prstGeom>
          <a:solidFill>
            <a:srgbClr val="DC262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1FDECB-D140-BC4E-B55E-1325C7B56860}"/>
              </a:ext>
            </a:extLst>
          </p:cNvPr>
          <p:cNvSpPr txBox="1"/>
          <p:nvPr/>
        </p:nvSpPr>
        <p:spPr>
          <a:xfrm>
            <a:off x="812800" y="2870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E293B"/>
                </a:solidFill>
                <a:latin typeface="Open Sans Light"/>
                <a:ea typeface="Open Sans Light"/>
                <a:cs typeface="Open Sans Light"/>
              </a:rPr>
              <a:t>Automated alerts catch issues early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6B5065-BB59-BF4F-A3D1-43EBDA270677}"/>
              </a:ext>
            </a:extLst>
          </p:cNvPr>
          <p:cNvSpPr/>
          <p:nvPr/>
        </p:nvSpPr>
        <p:spPr>
          <a:xfrm>
            <a:off x="558800" y="3314700"/>
            <a:ext cx="127000" cy="127000"/>
          </a:xfrm>
          <a:prstGeom prst="ellipse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03082C-3E85-3246-8F11-C42CF9210AA4}"/>
              </a:ext>
            </a:extLst>
          </p:cNvPr>
          <p:cNvSpPr txBox="1"/>
          <p:nvPr/>
        </p:nvSpPr>
        <p:spPr>
          <a:xfrm>
            <a:off x="812800" y="3251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E293B"/>
                </a:solidFill>
                <a:latin typeface="Open Sans Light"/>
                <a:ea typeface="Open Sans Light"/>
                <a:cs typeface="Open Sans Light"/>
              </a:rPr>
              <a:t>Scheduled evaluations prevent gradual degradation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2F5FE02-22AC-9F46-9111-53AB67C7F5EE}"/>
              </a:ext>
            </a:extLst>
          </p:cNvPr>
          <p:cNvSpPr/>
          <p:nvPr/>
        </p:nvSpPr>
        <p:spPr>
          <a:xfrm>
            <a:off x="558800" y="3695700"/>
            <a:ext cx="127000" cy="127000"/>
          </a:xfrm>
          <a:prstGeom prst="ellipse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E0250B-9FA8-8449-8F70-F04B89D74E1A}"/>
              </a:ext>
            </a:extLst>
          </p:cNvPr>
          <p:cNvSpPr txBox="1"/>
          <p:nvPr/>
        </p:nvSpPr>
        <p:spPr>
          <a:xfrm>
            <a:off x="812800" y="3632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E293B"/>
                </a:solidFill>
                <a:latin typeface="Open Sans Light"/>
                <a:ea typeface="Open Sans Light"/>
                <a:cs typeface="Open Sans Light"/>
              </a:rPr>
              <a:t>Clear thresholds remove decision ambiguity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8DC63DF-6848-8B4A-B985-1F95E1E5E6B7}"/>
              </a:ext>
            </a:extLst>
          </p:cNvPr>
          <p:cNvSpPr/>
          <p:nvPr/>
        </p:nvSpPr>
        <p:spPr>
          <a:xfrm>
            <a:off x="558800" y="4076700"/>
            <a:ext cx="127000" cy="127000"/>
          </a:xfrm>
          <a:prstGeom prst="ellipse">
            <a:avLst/>
          </a:prstGeom>
          <a:solidFill>
            <a:srgbClr val="7C3AE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CF06D3-B4EB-9141-99EF-C503652B71A7}"/>
              </a:ext>
            </a:extLst>
          </p:cNvPr>
          <p:cNvSpPr txBox="1"/>
          <p:nvPr/>
        </p:nvSpPr>
        <p:spPr>
          <a:xfrm>
            <a:off x="812800" y="4013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E293B"/>
                </a:solidFill>
                <a:latin typeface="Open Sans Light"/>
                <a:ea typeface="Open Sans Light"/>
                <a:cs typeface="Open Sans Light"/>
              </a:rPr>
              <a:t>Documented procedures ensure team consistency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1541DD-5D2B-A140-8A7A-CA5C5B0C2A2A}"/>
              </a:ext>
            </a:extLst>
          </p:cNvPr>
          <p:cNvSpPr txBox="1"/>
          <p:nvPr/>
        </p:nvSpPr>
        <p:spPr>
          <a:xfrm>
            <a:off x="6350000" y="2057400"/>
            <a:ext cx="533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E293B"/>
                </a:solidFill>
                <a:latin typeface="Poppins"/>
                <a:cs typeface="Poppins"/>
              </a:rPr>
              <a:t>Retraining Frequency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B81BA3D-3804-3944-B697-5F0740B0A758}"/>
              </a:ext>
            </a:extLst>
          </p:cNvPr>
          <p:cNvSpPr/>
          <p:nvPr/>
        </p:nvSpPr>
        <p:spPr>
          <a:xfrm>
            <a:off x="6350000" y="2489200"/>
            <a:ext cx="5334000" cy="6858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CCA6A0-7A80-6F44-B381-7DB5A5DDA9EF}"/>
              </a:ext>
            </a:extLst>
          </p:cNvPr>
          <p:cNvSpPr/>
          <p:nvPr/>
        </p:nvSpPr>
        <p:spPr>
          <a:xfrm>
            <a:off x="6350000" y="2489200"/>
            <a:ext cx="50800" cy="685800"/>
          </a:xfrm>
          <a:prstGeom prst="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995C91-9534-C14A-B960-4DF6D756A8CD}"/>
              </a:ext>
            </a:extLst>
          </p:cNvPr>
          <p:cNvSpPr txBox="1"/>
          <p:nvPr/>
        </p:nvSpPr>
        <p:spPr>
          <a:xfrm>
            <a:off x="6553200" y="25654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293B"/>
                </a:solidFill>
                <a:latin typeface="Poppins"/>
                <a:cs typeface="Poppins"/>
              </a:rPr>
              <a:t>Routine Evaluation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92326F-F034-234E-B672-501F29C40998}"/>
              </a:ext>
            </a:extLst>
          </p:cNvPr>
          <p:cNvSpPr txBox="1"/>
          <p:nvPr/>
        </p:nvSpPr>
        <p:spPr>
          <a:xfrm>
            <a:off x="6553200" y="28448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Every 2 weeks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A07D41-2632-8343-9842-B839F401AAB8}"/>
              </a:ext>
            </a:extLst>
          </p:cNvPr>
          <p:cNvSpPr/>
          <p:nvPr/>
        </p:nvSpPr>
        <p:spPr>
          <a:xfrm>
            <a:off x="6350000" y="3251200"/>
            <a:ext cx="5334000" cy="6858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C081D6-1D5F-3949-B09E-15DEFE35AD88}"/>
              </a:ext>
            </a:extLst>
          </p:cNvPr>
          <p:cNvSpPr/>
          <p:nvPr/>
        </p:nvSpPr>
        <p:spPr>
          <a:xfrm>
            <a:off x="6350000" y="3251200"/>
            <a:ext cx="50800" cy="6858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5FE6BE-A45B-E740-952F-A48C17932B0B}"/>
              </a:ext>
            </a:extLst>
          </p:cNvPr>
          <p:cNvSpPr txBox="1"/>
          <p:nvPr/>
        </p:nvSpPr>
        <p:spPr>
          <a:xfrm>
            <a:off x="6553200" y="33274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293B"/>
                </a:solidFill>
                <a:latin typeface="Poppins"/>
                <a:cs typeface="Poppins"/>
              </a:rPr>
              <a:t>Full Retraining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0BC9DF-1443-324F-B82C-999F61C812C2}"/>
              </a:ext>
            </a:extLst>
          </p:cNvPr>
          <p:cNvSpPr txBox="1"/>
          <p:nvPr/>
        </p:nvSpPr>
        <p:spPr>
          <a:xfrm>
            <a:off x="6553200" y="36068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Monthly or when triggered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6170391-4A9D-A243-990A-69A4F79E1F44}"/>
              </a:ext>
            </a:extLst>
          </p:cNvPr>
          <p:cNvSpPr/>
          <p:nvPr/>
        </p:nvSpPr>
        <p:spPr>
          <a:xfrm>
            <a:off x="6350000" y="4013200"/>
            <a:ext cx="5334000" cy="6858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C1A8A0-1298-9443-9E85-B9A22D880980}"/>
              </a:ext>
            </a:extLst>
          </p:cNvPr>
          <p:cNvSpPr/>
          <p:nvPr/>
        </p:nvSpPr>
        <p:spPr>
          <a:xfrm>
            <a:off x="6350000" y="4013200"/>
            <a:ext cx="50800" cy="685800"/>
          </a:xfrm>
          <a:prstGeom prst="rect">
            <a:avLst/>
          </a:prstGeom>
          <a:solidFill>
            <a:srgbClr val="DC262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452A57-C9FF-AF40-98EB-97DEE4F9B594}"/>
              </a:ext>
            </a:extLst>
          </p:cNvPr>
          <p:cNvSpPr txBox="1"/>
          <p:nvPr/>
        </p:nvSpPr>
        <p:spPr>
          <a:xfrm>
            <a:off x="6553200" y="40894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293B"/>
                </a:solidFill>
                <a:latin typeface="Poppins"/>
                <a:cs typeface="Poppins"/>
              </a:rPr>
              <a:t>Emergency Retraining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77FCB8-8D5E-EF46-A4C7-B903E48A2B16}"/>
              </a:ext>
            </a:extLst>
          </p:cNvPr>
          <p:cNvSpPr txBox="1"/>
          <p:nvPr/>
        </p:nvSpPr>
        <p:spPr>
          <a:xfrm>
            <a:off x="6553200" y="43688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Within 24h of critical alert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0F966D1-DDA0-D548-98DA-C827BE60312C}"/>
              </a:ext>
            </a:extLst>
          </p:cNvPr>
          <p:cNvSpPr/>
          <p:nvPr/>
        </p:nvSpPr>
        <p:spPr>
          <a:xfrm>
            <a:off x="6350000" y="4775200"/>
            <a:ext cx="5334000" cy="6858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A7D864B-842C-4749-AF6D-45999FF22519}"/>
              </a:ext>
            </a:extLst>
          </p:cNvPr>
          <p:cNvSpPr/>
          <p:nvPr/>
        </p:nvSpPr>
        <p:spPr>
          <a:xfrm>
            <a:off x="6350000" y="4775200"/>
            <a:ext cx="50800" cy="685800"/>
          </a:xfrm>
          <a:prstGeom prst="rect">
            <a:avLst/>
          </a:prstGeom>
          <a:solidFill>
            <a:srgbClr val="7C3AE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1F0136-77D2-8344-B769-D0F22B2D4EBB}"/>
              </a:ext>
            </a:extLst>
          </p:cNvPr>
          <p:cNvSpPr txBox="1"/>
          <p:nvPr/>
        </p:nvSpPr>
        <p:spPr>
          <a:xfrm>
            <a:off x="6553200" y="48514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293B"/>
                </a:solidFill>
                <a:latin typeface="Poppins"/>
                <a:cs typeface="Poppins"/>
              </a:rPr>
              <a:t>Model Version Review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EA61F3-FC3B-B44A-B93E-7D8039A25106}"/>
              </a:ext>
            </a:extLst>
          </p:cNvPr>
          <p:cNvSpPr txBox="1"/>
          <p:nvPr/>
        </p:nvSpPr>
        <p:spPr>
          <a:xfrm>
            <a:off x="6553200" y="51308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Quarterly (with stakeholders)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802451C-29FD-A64C-8F0A-369D7924CCCC}"/>
              </a:ext>
            </a:extLst>
          </p:cNvPr>
          <p:cNvSpPr/>
          <p:nvPr/>
        </p:nvSpPr>
        <p:spPr>
          <a:xfrm>
            <a:off x="457200" y="5969000"/>
            <a:ext cx="11277600" cy="635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7AEB2B-2A52-A048-ABC6-E2AB4BF98332}"/>
              </a:ext>
            </a:extLst>
          </p:cNvPr>
          <p:cNvSpPr txBox="1"/>
          <p:nvPr/>
        </p:nvSpPr>
        <p:spPr>
          <a:xfrm>
            <a:off x="660400" y="6070600"/>
            <a:ext cx="190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E40AF"/>
                </a:solidFill>
                <a:latin typeface="Poppins"/>
                <a:cs typeface="Poppins"/>
              </a:rPr>
              <a:t>Offline Evaluation: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0020D0-A2CA-9C46-9A6D-6115DA878B0D}"/>
              </a:ext>
            </a:extLst>
          </p:cNvPr>
          <p:cNvSpPr txBox="1"/>
          <p:nvPr/>
        </p:nvSpPr>
        <p:spPr>
          <a:xfrm>
            <a:off x="2667000" y="6070600"/>
            <a:ext cx="8890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4748B"/>
                </a:solidFill>
                <a:latin typeface="Open Sans Light"/>
                <a:ea typeface="Open Sans Light"/>
                <a:cs typeface="Open Sans Light"/>
              </a:rPr>
              <a:t>prepare_training_data.py  →  evaluate_model.py  →  evaluation_results.json</a:t>
            </a:r>
          </a:p>
        </p:txBody>
      </p:sp>
    </p:spTree>
    <p:extLst>
      <p:ext uri="{BB962C8B-B14F-4D97-AF65-F5344CB8AC3E}">
        <p14:creationId xmlns:p14="http://schemas.microsoft.com/office/powerpoint/2010/main" val="1837681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</Words>
  <Application>Microsoft Macintosh PowerPoint</Application>
  <PresentationFormat>Widescreen</PresentationFormat>
  <Paragraphs>133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Open Sans Light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Durga Prasad Gudla</dc:creator>
  <cp:lastModifiedBy>Sai Durga Prasad Gudla</cp:lastModifiedBy>
  <cp:revision>1</cp:revision>
  <dcterms:created xsi:type="dcterms:W3CDTF">2026-03-25T21:53:11Z</dcterms:created>
  <dcterms:modified xsi:type="dcterms:W3CDTF">2026-03-25T21:54:09Z</dcterms:modified>
</cp:coreProperties>
</file>